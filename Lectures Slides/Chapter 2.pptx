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76"/>
  </p:notesMasterIdLst>
  <p:handoutMasterIdLst>
    <p:handoutMasterId r:id="rId77"/>
  </p:handoutMasterIdLst>
  <p:sldIdLst>
    <p:sldId id="374" r:id="rId2"/>
    <p:sldId id="413" r:id="rId3"/>
    <p:sldId id="414" r:id="rId4"/>
    <p:sldId id="257" r:id="rId5"/>
    <p:sldId id="258" r:id="rId6"/>
    <p:sldId id="415" r:id="rId7"/>
    <p:sldId id="259" r:id="rId8"/>
    <p:sldId id="416" r:id="rId9"/>
    <p:sldId id="260" r:id="rId10"/>
    <p:sldId id="417" r:id="rId11"/>
    <p:sldId id="261" r:id="rId12"/>
    <p:sldId id="262" r:id="rId13"/>
    <p:sldId id="263" r:id="rId14"/>
    <p:sldId id="418" r:id="rId15"/>
    <p:sldId id="419" r:id="rId16"/>
    <p:sldId id="420" r:id="rId17"/>
    <p:sldId id="264" r:id="rId18"/>
    <p:sldId id="373" r:id="rId19"/>
    <p:sldId id="421" r:id="rId20"/>
    <p:sldId id="265" r:id="rId21"/>
    <p:sldId id="266" r:id="rId22"/>
    <p:sldId id="422" r:id="rId23"/>
    <p:sldId id="267" r:id="rId24"/>
    <p:sldId id="423" r:id="rId25"/>
    <p:sldId id="268" r:id="rId26"/>
    <p:sldId id="424" r:id="rId27"/>
    <p:sldId id="425" r:id="rId28"/>
    <p:sldId id="269" r:id="rId29"/>
    <p:sldId id="452" r:id="rId30"/>
    <p:sldId id="451" r:id="rId31"/>
    <p:sldId id="426" r:id="rId32"/>
    <p:sldId id="427" r:id="rId33"/>
    <p:sldId id="270" r:id="rId34"/>
    <p:sldId id="271" r:id="rId35"/>
    <p:sldId id="428" r:id="rId36"/>
    <p:sldId id="429" r:id="rId37"/>
    <p:sldId id="430" r:id="rId38"/>
    <p:sldId id="431" r:id="rId39"/>
    <p:sldId id="272" r:id="rId40"/>
    <p:sldId id="273" r:id="rId41"/>
    <p:sldId id="274" r:id="rId42"/>
    <p:sldId id="275" r:id="rId43"/>
    <p:sldId id="432" r:id="rId44"/>
    <p:sldId id="276" r:id="rId45"/>
    <p:sldId id="277" r:id="rId46"/>
    <p:sldId id="278" r:id="rId47"/>
    <p:sldId id="433" r:id="rId48"/>
    <p:sldId id="434" r:id="rId49"/>
    <p:sldId id="435" r:id="rId50"/>
    <p:sldId id="279" r:id="rId51"/>
    <p:sldId id="436" r:id="rId52"/>
    <p:sldId id="280" r:id="rId53"/>
    <p:sldId id="281" r:id="rId54"/>
    <p:sldId id="437" r:id="rId55"/>
    <p:sldId id="283" r:id="rId56"/>
    <p:sldId id="438" r:id="rId57"/>
    <p:sldId id="285" r:id="rId58"/>
    <p:sldId id="439" r:id="rId59"/>
    <p:sldId id="440" r:id="rId60"/>
    <p:sldId id="441" r:id="rId61"/>
    <p:sldId id="286" r:id="rId62"/>
    <p:sldId id="442" r:id="rId63"/>
    <p:sldId id="443" r:id="rId64"/>
    <p:sldId id="444" r:id="rId65"/>
    <p:sldId id="287" r:id="rId66"/>
    <p:sldId id="288" r:id="rId67"/>
    <p:sldId id="445" r:id="rId68"/>
    <p:sldId id="446" r:id="rId69"/>
    <p:sldId id="447" r:id="rId70"/>
    <p:sldId id="289" r:id="rId71"/>
    <p:sldId id="448" r:id="rId72"/>
    <p:sldId id="290" r:id="rId73"/>
    <p:sldId id="449" r:id="rId74"/>
    <p:sldId id="450" r:id="rId7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97" autoAdjust="0"/>
    <p:restoredTop sz="94660"/>
  </p:normalViewPr>
  <p:slideViewPr>
    <p:cSldViewPr>
      <p:cViewPr varScale="1">
        <p:scale>
          <a:sx n="81" d="100"/>
          <a:sy n="81" d="100"/>
        </p:scale>
        <p:origin x="15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3FC2988-252F-422E-876B-32E9B10F9CE4}" type="datetimeFigureOut">
              <a:rPr lang="en-US"/>
              <a:pPr>
                <a:defRPr/>
              </a:pPr>
              <a:t>10/7/2024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DE993C9-B1B7-4D64-8C38-EE075CB366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1140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DD78684-E2B4-4F2D-A495-0B4F22E426E9}" type="datetimeFigureOut">
              <a:rPr lang="en-US"/>
              <a:pPr>
                <a:defRPr/>
              </a:pPr>
              <a:t>10/7/2024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0419A6D-4F73-46DC-9403-76F1038C1C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3756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19A6D-4F73-46DC-9403-76F1038C1CD6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4448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816BDB3-F099-40F4-AFA6-269627F84624}" type="slidenum">
              <a:rPr lang="en-US" altLang="en-US"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993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9FF96C7-98A2-43B6-8816-05F31217E03B}" type="slidenum">
              <a:rPr lang="en-US" altLang="en-US"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13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A1DCC1A-1A13-4C72-8BBB-491314F80B68}" type="slidenum">
              <a:rPr lang="en-US" altLang="en-US"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254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3D28CE-821A-418A-B6D6-9DFA50B6AC4A}" type="slidenum">
              <a:rPr lang="en-US" altLang="en-US"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161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8446146-D772-4A30-A826-F4F5744DAF91}" type="slidenum">
              <a:rPr lang="en-US" altLang="en-US"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295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E490657-E5D5-4E95-A799-FDAA8CCCC658}" type="slidenum">
              <a:rPr lang="en-US" altLang="en-US"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758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89ACB3-7E20-44C1-B775-5D867A67A2BC}" type="slidenum">
              <a:rPr lang="en-US" altLang="en-US"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395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9D15EBB-050A-4E94-9496-8E064554EAE8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764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F2BA67D-A0C6-4955-81EC-97A72B04346F}" type="slidenum">
              <a:rPr lang="en-US" altLang="en-US"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585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A352DC3-FEC2-4EE8-8C0D-604FE65A8143}" type="slidenum">
              <a:rPr lang="en-US" altLang="en-US">
                <a:latin typeface="Calibri" panose="020F0502020204030204" pitchFamily="34" charset="0"/>
              </a:rPr>
              <a:pPr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104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2FF216B-85F9-45A9-BA02-10A109FD3C3D}" type="slidenum">
              <a:rPr lang="en-US" altLang="en-US">
                <a:latin typeface="Calibri" panose="020F0502020204030204" pitchFamily="34" charset="0"/>
              </a:rPr>
              <a:pPr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63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11DD626-6EEE-4C3E-8A4D-BD4A3955CBF5}" type="slidenum">
              <a:rPr lang="en-US" altLang="en-US"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0663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46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625BB88-F03A-449C-B0F9-FBF5E34EC129}" type="slidenum">
              <a:rPr lang="en-US" altLang="en-US">
                <a:latin typeface="Calibri" panose="020F0502020204030204" pitchFamily="34" charset="0"/>
              </a:rPr>
              <a:pPr eaLnBrk="1" hangingPunct="1"/>
              <a:t>25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128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8A8CFF6-12C4-4F90-92E6-5FB1399F696F}" type="slidenum">
              <a:rPr lang="en-US" altLang="en-US">
                <a:latin typeface="Calibri" panose="020F0502020204030204" pitchFamily="34" charset="0"/>
              </a:rPr>
              <a:pPr eaLnBrk="1" hangingPunct="1"/>
              <a:t>28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68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8A8CFF6-12C4-4F90-92E6-5FB1399F696F}" type="slidenum">
              <a:rPr lang="en-US" altLang="en-US">
                <a:latin typeface="Calibri" panose="020F0502020204030204" pitchFamily="34" charset="0"/>
              </a:rPr>
              <a:pPr eaLnBrk="1" hangingPunct="1"/>
              <a:t>29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7673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8A8CFF6-12C4-4F90-92E6-5FB1399F696F}" type="slidenum">
              <a:rPr lang="en-US" altLang="en-US">
                <a:latin typeface="Calibri" panose="020F0502020204030204" pitchFamily="34" charset="0"/>
              </a:rPr>
              <a:pPr eaLnBrk="1" hangingPunct="1"/>
              <a:t>30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106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98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DFBEC80-2891-43BF-8CC2-DD5F5EAD6BB8}" type="slidenum">
              <a:rPr lang="en-US" altLang="en-US">
                <a:latin typeface="Calibri" panose="020F0502020204030204" pitchFamily="34" charset="0"/>
              </a:rPr>
              <a:pPr eaLnBrk="1" hangingPunct="1"/>
              <a:t>33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3699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08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0CC05C8-62CB-48E0-B17A-D2EBE14941A9}" type="slidenum">
              <a:rPr lang="en-US" altLang="en-US">
                <a:latin typeface="Calibri" panose="020F0502020204030204" pitchFamily="34" charset="0"/>
              </a:rPr>
              <a:pPr eaLnBrk="1" hangingPunct="1"/>
              <a:t>34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2557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0D41E03-B023-404D-B827-60030016EFB0}" type="slidenum">
              <a:rPr lang="en-US" altLang="en-US">
                <a:latin typeface="Calibri" panose="020F0502020204030204" pitchFamily="34" charset="0"/>
              </a:rPr>
              <a:pPr eaLnBrk="1" hangingPunct="1"/>
              <a:t>39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3664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90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AA59844-3921-4ED0-A651-659E24756F07}" type="slidenum">
              <a:rPr lang="en-US" altLang="en-US">
                <a:latin typeface="Calibri" panose="020F0502020204030204" pitchFamily="34" charset="0"/>
              </a:rPr>
              <a:pPr eaLnBrk="1" hangingPunct="1"/>
              <a:t>40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7099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10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0DE8273-DB51-453C-83B3-7E60744400AB}" type="slidenum">
              <a:rPr lang="en-US" altLang="en-US">
                <a:latin typeface="Calibri" panose="020F0502020204030204" pitchFamily="34" charset="0"/>
              </a:rPr>
              <a:pPr eaLnBrk="1" hangingPunct="1"/>
              <a:t>41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5495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21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369EA19-D683-498B-8F4E-3792614C36F9}" type="slidenum">
              <a:rPr lang="en-US" altLang="en-US">
                <a:latin typeface="Calibri" panose="020F0502020204030204" pitchFamily="34" charset="0"/>
              </a:rPr>
              <a:pPr eaLnBrk="1" hangingPunct="1"/>
              <a:t>42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6952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91A97E4-8D52-4543-9EE6-035F058C4588}" type="slidenum">
              <a:rPr lang="en-US" altLang="en-US">
                <a:latin typeface="Calibri" panose="020F0502020204030204" pitchFamily="34" charset="0"/>
              </a:rPr>
              <a:pPr eaLnBrk="1" hangingPunct="1"/>
              <a:t>44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082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C587E9B-80E3-4F17-90F3-0F8D56302EE5}" type="slidenum">
              <a:rPr lang="en-US" altLang="en-US">
                <a:latin typeface="Calibri" panose="020F0502020204030204" pitchFamily="34" charset="0"/>
              </a:rPr>
              <a:pPr eaLnBrk="1" hangingPunct="1"/>
              <a:t>45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5312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61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0EFA65D-D58A-4BF2-947A-D0B8A3840536}" type="slidenum">
              <a:rPr lang="en-US" altLang="en-US">
                <a:latin typeface="Calibri" panose="020F0502020204030204" pitchFamily="34" charset="0"/>
              </a:rPr>
              <a:pPr eaLnBrk="1" hangingPunct="1"/>
              <a:t>46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1849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8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6DD8B40-C14F-451B-942A-774F13F6F76A}" type="slidenum">
              <a:rPr lang="en-US" altLang="en-US">
                <a:latin typeface="Calibri" panose="020F0502020204030204" pitchFamily="34" charset="0"/>
              </a:rPr>
              <a:pPr eaLnBrk="1" hangingPunct="1"/>
              <a:t>50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5245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13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D5CB4BD-CB81-43F7-95C0-8EAB463CFDFA}" type="slidenum">
              <a:rPr lang="en-US" altLang="en-US">
                <a:latin typeface="Calibri" panose="020F0502020204030204" pitchFamily="34" charset="0"/>
              </a:rPr>
              <a:pPr eaLnBrk="1" hangingPunct="1"/>
              <a:t>52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8045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23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B8C66E8-5362-4B50-90DF-60E64CBCEE44}" type="slidenum">
              <a:rPr lang="en-US" altLang="en-US">
                <a:latin typeface="Calibri" panose="020F0502020204030204" pitchFamily="34" charset="0"/>
              </a:rPr>
              <a:pPr eaLnBrk="1" hangingPunct="1"/>
              <a:t>53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8496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43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3423C37-D953-4C16-8E8F-E355CF41D773}" type="slidenum">
              <a:rPr lang="en-US" altLang="en-US">
                <a:latin typeface="Calibri" panose="020F0502020204030204" pitchFamily="34" charset="0"/>
              </a:rPr>
              <a:pPr eaLnBrk="1" hangingPunct="1"/>
              <a:t>55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5942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84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EFD27E5-9F45-4B38-BB22-A1A1D0093A9C}" type="slidenum">
              <a:rPr lang="en-US" altLang="en-US">
                <a:latin typeface="Calibri" panose="020F0502020204030204" pitchFamily="34" charset="0"/>
              </a:rPr>
              <a:pPr eaLnBrk="1" hangingPunct="1"/>
              <a:t>57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964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36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B59F053-59BA-48BF-AF65-AD3478594429}" type="slidenum">
              <a:rPr lang="en-US" altLang="en-US">
                <a:latin typeface="Calibri" panose="020F0502020204030204" pitchFamily="34" charset="0"/>
              </a:rPr>
              <a:pPr eaLnBrk="1" hangingPunct="1"/>
              <a:t>61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2124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77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FCDFD28-A0D7-478E-8028-94D5EEEE6DEE}" type="slidenum">
              <a:rPr lang="en-US" altLang="en-US">
                <a:latin typeface="Calibri" panose="020F0502020204030204" pitchFamily="34" charset="0"/>
              </a:rPr>
              <a:pPr eaLnBrk="1" hangingPunct="1"/>
              <a:t>65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7665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87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1D4EE1F-ABEC-43A6-8713-94170E930242}" type="slidenum">
              <a:rPr lang="en-US" altLang="en-US">
                <a:latin typeface="Calibri" panose="020F0502020204030204" pitchFamily="34" charset="0"/>
              </a:rPr>
              <a:pPr eaLnBrk="1" hangingPunct="1"/>
              <a:t>66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8323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23E0D14-9FEC-4E2A-B1EF-369427F54094}" type="slidenum">
              <a:rPr lang="en-US" altLang="en-US">
                <a:latin typeface="Calibri" panose="020F0502020204030204" pitchFamily="34" charset="0"/>
              </a:rPr>
              <a:pPr eaLnBrk="1" hangingPunct="1"/>
              <a:t>70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2587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4F73D97-C2C9-4321-84AE-93CC5CAB1391}" type="slidenum">
              <a:rPr lang="en-US" altLang="en-US">
                <a:latin typeface="Calibri" panose="020F0502020204030204" pitchFamily="34" charset="0"/>
              </a:rPr>
              <a:pPr eaLnBrk="1" hangingPunct="1"/>
              <a:t>72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451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" name="Freeform 20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5760 w 5760"/>
                <a:gd name="T3" fmla="*/ 0 h 528"/>
                <a:gd name="T4" fmla="*/ 5760 w 5760"/>
                <a:gd name="T5" fmla="*/ 528 h 528"/>
                <a:gd name="T6" fmla="*/ 48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Action Button: Forward or Next 10">
            <a:hlinkClick r:id="" action="ppaction://hlinkshowjump?jump=nextslide" highlightClick="1"/>
          </p:cNvPr>
          <p:cNvSpPr/>
          <p:nvPr/>
        </p:nvSpPr>
        <p:spPr>
          <a:xfrm>
            <a:off x="8686800" y="152400"/>
            <a:ext cx="304800" cy="304800"/>
          </a:xfrm>
          <a:prstGeom prst="actionButtonForwardNex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229B69CC-4F3A-4D4A-A811-CB31BD1B61AD}" type="datetime1">
              <a:rPr lang="en-US" smtClean="0"/>
              <a:t>10/7/2024</a:t>
            </a:fld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E6DA6D6-5F66-4BC0-B347-D27D36238B5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2743200" y="6408738"/>
            <a:ext cx="3987800" cy="365125"/>
          </a:xfrm>
        </p:spPr>
        <p:txBody>
          <a:bodyPr/>
          <a:lstStyle>
            <a:lvl1pPr>
              <a:defRPr smtClean="0"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©1992-2017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05040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on Button: Back or Previous 3">
            <a:hlinkClick r:id="" action="ppaction://hlinkshowjump?jump=previousslide" highlightClick="1"/>
          </p:cNvPr>
          <p:cNvSpPr/>
          <p:nvPr/>
        </p:nvSpPr>
        <p:spPr>
          <a:xfrm>
            <a:off x="8305800" y="152400"/>
            <a:ext cx="304800" cy="304800"/>
          </a:xfrm>
          <a:prstGeom prst="actionButtonBackPreviou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Action Button: Forward or Next 4">
            <a:hlinkClick r:id="" action="ppaction://hlinkshowjump?jump=nextslide" highlightClick="1"/>
          </p:cNvPr>
          <p:cNvSpPr/>
          <p:nvPr/>
        </p:nvSpPr>
        <p:spPr>
          <a:xfrm>
            <a:off x="8686800" y="152400"/>
            <a:ext cx="304800" cy="304800"/>
          </a:xfrm>
          <a:prstGeom prst="actionButtonForwardNex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Wingdings" pitchFamily="2" charset="2"/>
              <a:buChar char="§"/>
              <a:defRPr/>
            </a:lvl2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774F1AA5-6C42-43E3-A481-625C7A0AA468}" type="datetime1">
              <a:rPr lang="en-US" smtClean="0"/>
              <a:t>10/7/2024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/>
              <a:t>©1992-2017 by Pearson Education, Inc. All Rights Reserved.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3E8978-2064-4FF3-9D02-93AD85FAC3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2064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368DB869-2114-4329-9124-23F3665AAFFB}" type="datetime1">
              <a:rPr lang="en-US" smtClean="0"/>
              <a:t>10/7/2024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067C60-82A8-47EE-A3F7-5A886CFF72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9355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606C68FA-CB28-4536-AC0B-6A51FBB7C823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190D17-5DC0-496D-ADC0-D353038781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81071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F617737A-EED8-45EE-82CE-967F8E514A61}" type="datetime1">
              <a:rPr lang="en-US" smtClean="0"/>
              <a:t>10/7/2024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9372E8-497C-46F4-B94D-E2E4A2326D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9112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F869D003-D2AC-45C6-8138-24AD741BD8B6}" type="datetime1">
              <a:rPr lang="en-US" smtClean="0"/>
              <a:t>10/7/2024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6BE0FB-5DC0-4F42-93E1-9CC6E631C5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6916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2BEF6-1389-4C1A-A089-4825725A08F9}" type="datetime1">
              <a:rPr lang="en-US" smtClean="0"/>
              <a:t>10/7/2024</a:t>
            </a:fld>
            <a:endParaRPr lang="en-US"/>
          </a:p>
        </p:txBody>
      </p:sp>
      <p:sp>
        <p:nvSpPr>
          <p:cNvPr id="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363CFE-0FEC-453E-B2B9-DDC577D1029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96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18A99656-0BDB-40DB-8779-8202436CA7D5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CFAA70-7669-48E5-B960-4A124E42A9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1118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5760 w 5591"/>
              <a:gd name="T3" fmla="*/ 0 h 588"/>
              <a:gd name="T4" fmla="*/ 5760 w 5591"/>
              <a:gd name="T5" fmla="*/ 528 h 588"/>
              <a:gd name="T6" fmla="*/ 4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5602294D-9B37-4156-93DC-AE86B51874B5}" type="datetime1">
              <a:rPr lang="en-US" smtClean="0"/>
              <a:t>10/7/2024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79913" y="6408738"/>
            <a:ext cx="2351087" cy="365125"/>
          </a:xfrm>
        </p:spPr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3069F6-49B3-42EC-94B0-25331031BA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2749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7371C-9A11-4BCE-8E6C-784ECDF2F81C}" type="datetime1">
              <a:rPr lang="en-US" smtClean="0"/>
              <a:t>10/7/2024</a:t>
            </a:fld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3E5596E-4385-4C65-998B-32F08F608CB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251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5990DE-5049-40C4-ADD4-B527981B0570}" type="datetime1">
              <a:rPr lang="en-US" smtClean="0"/>
              <a:t>10/7/2024</a:t>
            </a:fld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8FC722-98AA-4DF7-91D5-57AE5F35DFF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124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1D0681-D0D9-4FEB-A022-65B0F897C76B}" type="datetime1">
              <a:rPr lang="en-US" smtClean="0"/>
              <a:t>10/7/2024</a:t>
            </a:fld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A72225F-1941-475A-B25B-8287D0113BA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807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5760 w 5591"/>
              <a:gd name="T3" fmla="*/ 0 h 588"/>
              <a:gd name="T4" fmla="*/ 5760 w 5591"/>
              <a:gd name="T5" fmla="*/ 528 h 588"/>
              <a:gd name="T6" fmla="*/ 4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76C425E2-CF38-40E3-92D8-EC3C92BBEB8F}" type="datetime1">
              <a:rPr lang="en-US" smtClean="0"/>
              <a:t>10/7/2024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Lucida Sans Unicode" panose="020B0602030504020204" pitchFamily="34" charset="0"/>
              </a:defRPr>
            </a:lvl1pPr>
          </a:lstStyle>
          <a:p>
            <a:fld id="{4E48E014-6D64-4E50-BAE7-9350E43B7E6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Action Button: Back or Previous 10">
            <a:hlinkClick r:id="" action="ppaction://hlinkshowjump?jump=previousslide" highlightClick="1"/>
          </p:cNvPr>
          <p:cNvSpPr/>
          <p:nvPr/>
        </p:nvSpPr>
        <p:spPr>
          <a:xfrm>
            <a:off x="8305800" y="152400"/>
            <a:ext cx="304800" cy="304800"/>
          </a:xfrm>
          <a:prstGeom prst="actionButtonBackPreviou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>
          <a:xfrm>
            <a:off x="8686800" y="152400"/>
            <a:ext cx="304800" cy="304800"/>
          </a:xfrm>
          <a:prstGeom prst="actionButtonForwardNex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276600" y="6408738"/>
            <a:ext cx="34544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r>
              <a:rPr lang="en-US" dirty="0"/>
              <a:t>©1992-2017 by Pearson Education, Inc. All Rights Reserved.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55" r:id="rId7"/>
    <p:sldLayoutId id="2147483765" r:id="rId8"/>
    <p:sldLayoutId id="2147483766" r:id="rId9"/>
    <p:sldLayoutId id="2147483756" r:id="rId10"/>
    <p:sldLayoutId id="2147483757" r:id="rId11"/>
    <p:sldLayoutId id="2147483758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Introduction to C++ Programming, </a:t>
            </a:r>
            <a:r>
              <a:rPr lang="en-US" dirty="0" err="1"/>
              <a:t>Input/Output</a:t>
            </a:r>
            <a:r>
              <a:rPr lang="en-US" dirty="0"/>
              <a:t> and Operators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2 of C++ How to Program, 10/e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0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016" y="857250"/>
            <a:ext cx="6606778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4613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0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1613"/>
            <a:ext cx="9144000" cy="3913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492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2.1  </a:t>
            </a:r>
            <a:r>
              <a:rPr lang="en-US">
                <a:solidFill>
                  <a:srgbClr val="3380E6"/>
                </a:solidFill>
                <a:latin typeface="Arial"/>
              </a:rPr>
              <a:t>Introduction</a:t>
            </a:r>
          </a:p>
        </p:txBody>
      </p:sp>
      <p:sp>
        <p:nvSpPr>
          <p:cNvPr id="1433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We now introduce C++ programming, which facilitates a disciplined approach to program development.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Most of the C++ programs you’ll study in this book process data and display results.</a:t>
            </a:r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First Program in C++: Printing a Line of Text</a:t>
            </a:r>
          </a:p>
        </p:txBody>
      </p:sp>
      <p:sp>
        <p:nvSpPr>
          <p:cNvPr id="1536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Simple program that prints a line of text (Fig. 2.1).</a:t>
            </a:r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0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9929"/>
            <a:ext cx="9144000" cy="41981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9706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1741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indicates that the remainder of each line is a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comment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You insert comments to document your programs and to help other people read and understand them.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Comments are ignored by the C++ compiler and do not cause any machine-language object code to be generated.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 comment beginning with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//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is called a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single-line comment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because it terminates at the end of the current line.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You also may use comments containing one or more lines enclosed in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/*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*/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0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3391"/>
            <a:ext cx="9144000" cy="21312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6882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1945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preprocessing directive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is a message to the C++ preprocessor.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Lines that begin with </a:t>
            </a:r>
            <a:r>
              <a:rPr lang="en-US" altLang="en-US" dirty="0">
                <a:solidFill>
                  <a:srgbClr val="0000FF"/>
                </a:solidFill>
                <a:latin typeface="Consolas" panose="020B0609020204030204" pitchFamily="49" charset="0"/>
              </a:rPr>
              <a:t>#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are processed by the preprocessor before the program is compiled.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#include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iostream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notifies the preprocessor to include in the program the contents of the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input/output stream header file </a:t>
            </a:r>
            <a:r>
              <a:rPr lang="en-US" altLang="en-US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iostream</a:t>
            </a:r>
            <a:r>
              <a:rPr lang="en-US" altLang="en-US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This header is a file containing information used by the compiler when compiling any program that outputs data to the screen or inputs data from the keyboard using C++-style stream input/output.</a:t>
            </a: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0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7154"/>
            <a:ext cx="9144000" cy="28825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4440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2150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You use blank lines,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space characters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and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tab characters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(i.e., “tabs”) to make programs easier to read.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Together, these characters are known as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white space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White-space characters are normally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ignored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by the compiler.</a:t>
            </a:r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225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is a part of every C++ program.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The parentheses after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indicate that </a:t>
            </a:r>
            <a:r>
              <a:rPr lang="en-US" altLang="en-US" sz="2300" dirty="0">
                <a:solidFill>
                  <a:srgbClr val="0000FF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is a program building block called a </a:t>
            </a:r>
            <a:r>
              <a:rPr lang="en-US" altLang="en-US" sz="2300" dirty="0">
                <a:solidFill>
                  <a:srgbClr val="0000FF"/>
                </a:solidFill>
                <a:latin typeface="Cambria" panose="02040503050406030204" pitchFamily="18" charset="0"/>
              </a:rPr>
              <a:t>function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C++ programs typically consist of one or more functions and classes.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Exactly </a:t>
            </a:r>
            <a:r>
              <a:rPr lang="en-US" altLang="en-US" sz="2300" i="1" dirty="0">
                <a:solidFill>
                  <a:srgbClr val="000000"/>
                </a:solidFill>
                <a:latin typeface="Cambria" panose="02040503050406030204" pitchFamily="18" charset="0"/>
              </a:rPr>
              <a:t>one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function in every program </a:t>
            </a:r>
            <a:r>
              <a:rPr lang="en-US" altLang="en-US" sz="2300" i="1" dirty="0">
                <a:solidFill>
                  <a:srgbClr val="000000"/>
                </a:solidFill>
                <a:latin typeface="Cambria" panose="02040503050406030204" pitchFamily="18" charset="0"/>
              </a:rPr>
              <a:t>must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be named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C++ programs begin executing at function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, even if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is </a:t>
            </a:r>
            <a:r>
              <a:rPr lang="en-US" altLang="en-US" sz="2300" i="1" dirty="0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the first function defined in the program.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The keyword </a:t>
            </a:r>
            <a:r>
              <a:rPr lang="en-US" alt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to the left of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indicates that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“returns” an integer (whole number) value.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sz="2000" dirty="0">
                <a:solidFill>
                  <a:srgbClr val="0000FF"/>
                </a:solidFill>
                <a:latin typeface="Cambria" panose="02040503050406030204" pitchFamily="18" charset="0"/>
              </a:rPr>
              <a:t>keyword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 is a word in code that is reserved by C++ for a specific use.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For now, simply include the keyword </a:t>
            </a: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 to the left of 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 in each of your programs.</a:t>
            </a:r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2355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left brace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must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begin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the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body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of every function.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A corresponding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right brace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must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end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each function’s body.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A statement instructs the computer to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perform an action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Together, the quotation marks and the characters between them are called a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string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a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character string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or a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string literal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We refer to characters between double quotation marks simply as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strings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White-space characters in strings are not ignored by the compiler.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Most C++ statements end with a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semicolon 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(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;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), also known as the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statement terminator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Preprocessing directives (like </a:t>
            </a:r>
            <a:r>
              <a:rPr lang="en-US" alt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#include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) do not end with a semicolon.</a:t>
            </a: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91" y="857250"/>
            <a:ext cx="7540228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654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0479"/>
            <a:ext cx="9144000" cy="30170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9151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3582"/>
            <a:ext cx="9144000" cy="28896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8801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2765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Typically, output and input in C++ are accomplished with </a:t>
            </a:r>
            <a:r>
              <a:rPr lang="en-US" altLang="en-US" sz="2300" dirty="0">
                <a:solidFill>
                  <a:srgbClr val="0000FF"/>
                </a:solidFill>
                <a:latin typeface="Cambria" panose="02040503050406030204" pitchFamily="18" charset="0"/>
              </a:rPr>
              <a:t>streams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of data.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When a </a:t>
            </a:r>
            <a:r>
              <a:rPr lang="en-US" alt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statement executes, it sends a stream of characters to the </a:t>
            </a:r>
            <a:r>
              <a:rPr lang="en-US" altLang="en-US" sz="2300" dirty="0">
                <a:solidFill>
                  <a:srgbClr val="0000FF"/>
                </a:solidFill>
                <a:latin typeface="Cambria" panose="02040503050406030204" pitchFamily="18" charset="0"/>
              </a:rPr>
              <a:t>standard output stream object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—</a:t>
            </a:r>
            <a:r>
              <a:rPr lang="en-US" altLang="en-US" sz="2300" dirty="0" err="1">
                <a:solidFill>
                  <a:srgbClr val="0000FF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300" dirty="0">
                <a:solidFill>
                  <a:srgbClr val="0000FF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300" dirty="0" err="1">
                <a:solidFill>
                  <a:srgbClr val="0000FF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—which is normally “connected” to the screen.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before </a:t>
            </a:r>
            <a:r>
              <a:rPr lang="en-US" alt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is required when we use names that we’ve brought into the program by the preprocessing directive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#include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iostream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The notation </a:t>
            </a: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 specifies that we are using a name, in this case </a:t>
            </a: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, that belongs to “namespace” 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The names </a:t>
            </a: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 (the standard input stream) and </a:t>
            </a: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cerr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 (the standard error stream) also belong to namespace 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2867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In the context of an output statement, the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 operator is referred to as the </a:t>
            </a:r>
            <a:r>
              <a:rPr lang="en-US" altLang="en-US" sz="2800" dirty="0">
                <a:solidFill>
                  <a:srgbClr val="0000FF"/>
                </a:solidFill>
                <a:latin typeface="Cambria" panose="02040503050406030204" pitchFamily="18" charset="0"/>
              </a:rPr>
              <a:t>stream insertion operator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The value to the operator’s right, the right </a:t>
            </a:r>
            <a:r>
              <a:rPr lang="en-US" altLang="en-US" sz="2800" dirty="0">
                <a:solidFill>
                  <a:srgbClr val="0000FF"/>
                </a:solidFill>
                <a:latin typeface="Cambria" panose="02040503050406030204" pitchFamily="18" charset="0"/>
              </a:rPr>
              <a:t>operand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, is inserted in the output stream.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The characters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\n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 are </a:t>
            </a:r>
            <a:r>
              <a:rPr lang="en-US" altLang="en-US" sz="2800" i="1" dirty="0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 printed on the screen.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The backslash (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\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) is called an </a:t>
            </a:r>
            <a:r>
              <a:rPr lang="en-US" altLang="en-US" sz="2800" dirty="0">
                <a:solidFill>
                  <a:srgbClr val="0000FF"/>
                </a:solidFill>
                <a:latin typeface="Cambria" panose="02040503050406030204" pitchFamily="18" charset="0"/>
              </a:rPr>
              <a:t>escape character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It indicates that a “special” character is to be output.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When a backslash is encountered in a string of characters, the next character is combined with the backslash to form an </a:t>
            </a:r>
            <a:r>
              <a:rPr lang="en-US" altLang="en-US" sz="2800" dirty="0">
                <a:solidFill>
                  <a:srgbClr val="0000FF"/>
                </a:solidFill>
                <a:latin typeface="Cambria" panose="02040503050406030204" pitchFamily="18" charset="0"/>
              </a:rPr>
              <a:t>escape sequence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The escape sequence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\n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 means </a:t>
            </a:r>
            <a:r>
              <a:rPr lang="en-US" altLang="en-US" sz="2800" dirty="0">
                <a:solidFill>
                  <a:srgbClr val="0000FF"/>
                </a:solidFill>
                <a:latin typeface="Cambria" panose="02040503050406030204" pitchFamily="18" charset="0"/>
              </a:rPr>
              <a:t>newline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Causes the </a:t>
            </a: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</a:rPr>
              <a:t>cursor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to move to the beginning of the next line on the screen.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63" y="857250"/>
            <a:ext cx="8904685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5587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3072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When the </a:t>
            </a:r>
            <a:r>
              <a:rPr lang="en-US" alt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2800" dirty="0">
                <a:solidFill>
                  <a:srgbClr val="0000FF"/>
                </a:solidFill>
                <a:latin typeface="Cambria" panose="02040503050406030204" pitchFamily="18" charset="0"/>
              </a:rPr>
              <a:t> statement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 is used at the end of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 the value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 indicates that the program has </a:t>
            </a:r>
            <a:r>
              <a:rPr lang="en-US" altLang="en-US" sz="2800" i="1" dirty="0">
                <a:solidFill>
                  <a:srgbClr val="000000"/>
                </a:solidFill>
                <a:latin typeface="Cambria" panose="02040503050406030204" pitchFamily="18" charset="0"/>
              </a:rPr>
              <a:t>terminated successfully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According to the C++ standard, if program execution reaches the end of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 without encountering a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 statement, it’s assumed that the program terminated successfully—exactly as when the last statement in main is a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 statement with the value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2.3  </a:t>
            </a:r>
            <a:r>
              <a:rPr lang="en-US">
                <a:solidFill>
                  <a:srgbClr val="3380E6"/>
                </a:solidFill>
                <a:latin typeface="Arial"/>
              </a:rPr>
              <a:t>Modifying Our First C++ Program</a:t>
            </a:r>
          </a:p>
        </p:txBody>
      </p:sp>
      <p:sp>
        <p:nvSpPr>
          <p:cNvPr id="3174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Welcome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to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C++!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can be printed several ways.</a:t>
            </a:r>
          </a:p>
        </p:txBody>
      </p:sp>
      <p:sp>
        <p:nvSpPr>
          <p:cNvPr id="30724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7085"/>
            <a:ext cx="9144000" cy="39826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1647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2.3  </a:t>
            </a:r>
            <a:r>
              <a:rPr lang="en-US">
                <a:solidFill>
                  <a:srgbClr val="3380E6"/>
                </a:solidFill>
                <a:latin typeface="Arial"/>
              </a:rPr>
              <a:t>Modifying Our First C++ Program (cont.)</a:t>
            </a:r>
          </a:p>
        </p:txBody>
      </p:sp>
      <p:sp>
        <p:nvSpPr>
          <p:cNvPr id="3379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 single statement can print multiple lines by using newline characters.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Each time the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\n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(newline) escape sequence is encountered in the output stream, the screen cursor is positioned to the beginning of the next line.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To get a blank line in your output, place two newline characters back to back.</a:t>
            </a:r>
          </a:p>
        </p:txBody>
      </p:sp>
      <p:sp>
        <p:nvSpPr>
          <p:cNvPr id="32772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9441"/>
            <a:ext cx="9144000" cy="4377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7040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</a:rPr>
              <a:t>Another C++ Program: Adding Integers</a:t>
            </a:r>
          </a:p>
        </p:txBody>
      </p:sp>
      <p:sp>
        <p:nvSpPr>
          <p:cNvPr id="3584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next program obtains two integers typed by a user at the keyboard, computes their sum and outputs the result using </a:t>
            </a:r>
            <a:r>
              <a:rPr lang="en-US" alt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Figure 2.5 shows the program and sample inputs and outputs. </a:t>
            </a:r>
          </a:p>
        </p:txBody>
      </p:sp>
      <p:sp>
        <p:nvSpPr>
          <p:cNvPr id="34820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13" y="857250"/>
            <a:ext cx="7877175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90160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40769"/>
            <a:ext cx="9144000" cy="2175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1967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389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Declarations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introduce identifiers into programs.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identifiers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number2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are the names of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variables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A variable is a location in the computer’s memory where a value can be stored for use by a program.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Variables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number2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are data of type </a:t>
            </a:r>
            <a:r>
              <a:rPr lang="en-US" altLang="en-US" sz="25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meaning that these variables will hold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integers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(whole numbers such as 7, –11, 0 and 31914).</a:t>
            </a:r>
          </a:p>
          <a:p>
            <a:pPr eaLnBrk="1" hangingPunct="1">
              <a:lnSpc>
                <a:spcPct val="80000"/>
              </a:lnSpc>
            </a:pPr>
            <a:endParaRPr lang="en-US" alt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389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Lines 8–10 initialize each variable to 0 by placing a value in braces (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) immediately following the variable’s name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Known as list initialization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Introduced in C++11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Previously, these declarations would have been written as: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number1 = 0;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number2 = 0;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 = 0;</a:t>
            </a:r>
          </a:p>
          <a:p>
            <a:pPr eaLnBrk="1" hangingPunct="1">
              <a:lnSpc>
                <a:spcPct val="80000"/>
              </a:lnSpc>
            </a:pPr>
            <a:endParaRPr lang="en-US" alt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33436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389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All variables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must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be declared with a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name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and a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data type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before they can be used in a program.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If more than one name is declared in a declaration (as shown here), the names are separated by commas (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); this is referred to as a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comma-separated list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615280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9079"/>
            <a:ext cx="9144000" cy="25586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1884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0510"/>
            <a:ext cx="9144000" cy="25157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77638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4198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Data type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is for specifying real numbers, and data type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for specifying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character data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Real numbers are numbers with decimal points, such as 3.4, 0.0 and –11.19.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variable may hold only a single lowercase letter, a single uppercase letter, a single digit or a single special character (e.g.,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$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).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Types such as </a:t>
            </a: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are called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fundamental types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Fundamental-type names are keywords and therefore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must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appear in all lowercase letters.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Appendix C contains the complete list of fundamental types.</a:t>
            </a:r>
          </a:p>
        </p:txBody>
      </p:sp>
      <p:sp>
        <p:nvSpPr>
          <p:cNvPr id="39940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 variable name is any valid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identifier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that is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 keyword.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An identifier is a series of characters consisting of letters, digits and underscores ( _ ) that does not begin with a digit.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C++ is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case sensitive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—uppercase and lowercase letters are different, so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a1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A1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are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different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identifiers.</a:t>
            </a:r>
          </a:p>
        </p:txBody>
      </p:sp>
      <p:sp>
        <p:nvSpPr>
          <p:cNvPr id="40964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6438"/>
            <a:ext cx="9144000" cy="29039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9333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485"/>
            <a:ext cx="9144000" cy="29170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90439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7204"/>
            <a:ext cx="9144000" cy="20835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50390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66938"/>
            <a:ext cx="9144000" cy="2524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27017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481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Declarations of variables can be placed almost anywhere in a program, but they must appear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before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their corresponding variables are used in the program.</a:t>
            </a:r>
          </a:p>
        </p:txBody>
      </p:sp>
      <p:sp>
        <p:nvSpPr>
          <p:cNvPr id="47108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4915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prompt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it directs the user to take a specific action.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statement uses the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input stream object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(of namespace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) and the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stream extraction operator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>
                <a:solidFill>
                  <a:srgbClr val="0000FF"/>
                </a:solidFill>
                <a:latin typeface="Consolas" panose="020B0609020204030204" pitchFamily="49" charset="0"/>
              </a:rPr>
              <a:t>&gt;&gt;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, to obtain a value from the keyboard.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Using the stream extraction operator with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takes character input from the standard input stream, which is usually the keyboard.</a:t>
            </a:r>
          </a:p>
        </p:txBody>
      </p:sp>
      <p:sp>
        <p:nvSpPr>
          <p:cNvPr id="49156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5017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When the computer executes an input statement that places a value in an </a:t>
            </a:r>
            <a:r>
              <a:rPr lang="en-US" alt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variable, it waits for the user to enter a value for variable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The user responds by typing the number (as characters) then pressing the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Enter 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key (sometimes called the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Return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key) to send the characters to the computer.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The computer converts the character representation of the number to an integer and assigns (i.e., copies) this number (or </a:t>
            </a: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</a:rPr>
              <a:t>value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) to the variable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Any subsequent references to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in this program will use this same value.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Pressing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Enter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also causes the cursor to move to the beginning of the next line on the screen. </a:t>
            </a:r>
          </a:p>
        </p:txBody>
      </p:sp>
      <p:sp>
        <p:nvSpPr>
          <p:cNvPr id="51204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5120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In this program, an assignment statement adds the values of variables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number2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and assigns the result to variable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using the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assignment operator </a:t>
            </a:r>
            <a:r>
              <a:rPr lang="en-US" altLang="en-US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Most calculations are performed in assignment statements.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operator and the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operator are called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binary operators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because each has two operands.</a:t>
            </a:r>
          </a:p>
        </p:txBody>
      </p:sp>
      <p:sp>
        <p:nvSpPr>
          <p:cNvPr id="52228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4798"/>
            <a:ext cx="9144000" cy="24872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08972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5325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is a so-called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stream manipulator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name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is an abbreviation for “end line” and belongs to namespace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stream manipulator outputs a newline, then “flushes the output buffer.”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This simply means that, on some systems where outputs accumulate in the machine until there are enough to “make it worthwhile” to display them on the screen,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forces any accumulated outputs to be displayed at that moment.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This can be important when the outputs are prompting the user for an action, such as entering data.</a:t>
            </a:r>
          </a:p>
        </p:txBody>
      </p:sp>
      <p:sp>
        <p:nvSpPr>
          <p:cNvPr id="54276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2.4  </a:t>
            </a:r>
            <a:r>
              <a:rPr lang="en-US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5427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Using multiple stream insertion operators (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) in a single statement is referred to as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concatenating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chaining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cascading stream insertion operations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Calculations can also be performed in output statements.</a:t>
            </a:r>
          </a:p>
        </p:txBody>
      </p:sp>
      <p:sp>
        <p:nvSpPr>
          <p:cNvPr id="55300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2.5  </a:t>
            </a:r>
            <a:r>
              <a:rPr lang="en-US">
                <a:solidFill>
                  <a:srgbClr val="3380E6"/>
                </a:solidFill>
                <a:latin typeface="Arial"/>
              </a:rPr>
              <a:t>Memory Concepts</a:t>
            </a:r>
          </a:p>
        </p:txBody>
      </p:sp>
      <p:sp>
        <p:nvSpPr>
          <p:cNvPr id="5529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Variable names such as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number2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actually correspond to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locations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in the computer’s memory.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Every variable has a name, a type, a size and a value.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When a value is placed in a memory location, the value overwrites the previous value in that location; thus, placing a new value into a memory location is said to be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destructive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When a value is read out of a </a:t>
            </a:r>
            <a:r>
              <a:rPr lang="en-US" altLang="en-US">
                <a:solidFill>
                  <a:srgbClr val="000000"/>
                </a:solidFill>
                <a:latin typeface="Cambria" panose="02040503050406030204" pitchFamily="18" charset="0"/>
              </a:rPr>
              <a:t>memory location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, the process is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nondestructive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56324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050"/>
            <a:ext cx="9144000" cy="2247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80097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9788"/>
            <a:ext cx="9144000" cy="2638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04405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0466"/>
            <a:ext cx="9144000" cy="32158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06019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2.6  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Arithmetic</a:t>
            </a:r>
          </a:p>
        </p:txBody>
      </p:sp>
      <p:sp>
        <p:nvSpPr>
          <p:cNvPr id="5939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Most programs perform arithmetic calculations.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Figure 2.9 summarizes the C++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arithmetic operators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asterisk 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(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) indicates multiplication.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percent sign 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(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%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)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is the remainder operator.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Yields the remainder after integer division.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Can be used only with integer operands.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arithmetic operators are all binary operators.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Integer division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(i.e., where both the numerator and the denominator are integers) yields an integer quotient.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Any fractional part in integer division is discarded (i.e., </a:t>
            </a:r>
            <a:r>
              <a:rPr lang="en-US" altLang="en-US" sz="2100" dirty="0">
                <a:solidFill>
                  <a:srgbClr val="0000FF"/>
                </a:solidFill>
                <a:latin typeface="Cambria" panose="02040503050406030204" pitchFamily="18" charset="0"/>
              </a:rPr>
              <a:t>truncated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)—no rounding occurs.</a:t>
            </a:r>
          </a:p>
        </p:txBody>
      </p:sp>
      <p:sp>
        <p:nvSpPr>
          <p:cNvPr id="58372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0410"/>
            <a:ext cx="9144000" cy="41159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01095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2.6  </a:t>
            </a:r>
            <a:r>
              <a:rPr lang="en-US">
                <a:solidFill>
                  <a:srgbClr val="3380E6"/>
                </a:solidFill>
                <a:latin typeface="Arial"/>
              </a:rPr>
              <a:t>Arithmetic (cont.)</a:t>
            </a:r>
          </a:p>
        </p:txBody>
      </p:sp>
      <p:sp>
        <p:nvSpPr>
          <p:cNvPr id="6144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Arithmetic expressions in C++ must be entered into the computer in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straight-line form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Expressions such as “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divided by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” must be written as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, so that all constants, variables and operators appear in a straight line.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Parentheses are used in C++ expressions in the same manner as in algebraic expressions.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For example, to multiply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times the quantity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we write 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 * ( b + c )</a:t>
            </a:r>
          </a:p>
        </p:txBody>
      </p:sp>
      <p:sp>
        <p:nvSpPr>
          <p:cNvPr id="61444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2.6  </a:t>
            </a:r>
            <a:r>
              <a:rPr lang="en-US">
                <a:solidFill>
                  <a:srgbClr val="3380E6"/>
                </a:solidFill>
                <a:latin typeface="Arial"/>
              </a:rPr>
              <a:t>Arithmetic (cont.)</a:t>
            </a:r>
          </a:p>
        </p:txBody>
      </p:sp>
      <p:sp>
        <p:nvSpPr>
          <p:cNvPr id="624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C++ applies the operators in arithmetic expressions in a precise sequence determined by the following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rules of operator precedence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, which are generally the same as those followed in algebra.</a:t>
            </a:r>
          </a:p>
        </p:txBody>
      </p:sp>
      <p:sp>
        <p:nvSpPr>
          <p:cNvPr id="62468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23" y="857250"/>
            <a:ext cx="8868965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01066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2.6  </a:t>
            </a:r>
            <a:r>
              <a:rPr lang="en-US">
                <a:solidFill>
                  <a:srgbClr val="3380E6"/>
                </a:solidFill>
                <a:latin typeface="Arial"/>
              </a:rPr>
              <a:t>Arithmetic (cont.)</a:t>
            </a:r>
          </a:p>
        </p:txBody>
      </p:sp>
      <p:sp>
        <p:nvSpPr>
          <p:cNvPr id="645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There is no arithmetic operator for exponentiation in C++, so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x</a:t>
            </a:r>
            <a:r>
              <a:rPr lang="en-US" altLang="en-US" baseline="30000" dirty="0">
                <a:solidFill>
                  <a:srgbClr val="000000"/>
                </a:solidFill>
                <a:latin typeface="Cambria" panose="02040503050406030204" pitchFamily="18" charset="0"/>
              </a:rPr>
              <a:t>2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is represented as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 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 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Figure 2.11 illustrates the order in which the operators in a second-degree polynomial are applied.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As in algebra, it’s acceptable to place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redundant parentheses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in an expression to make the expression clearer.</a:t>
            </a:r>
          </a:p>
        </p:txBody>
      </p:sp>
      <p:sp>
        <p:nvSpPr>
          <p:cNvPr id="64516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431" y="857250"/>
            <a:ext cx="6815138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60590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2.7  </a:t>
            </a:r>
            <a:r>
              <a:rPr lang="en-US">
                <a:solidFill>
                  <a:srgbClr val="3380E6"/>
                </a:solidFill>
                <a:latin typeface="Arial"/>
              </a:rPr>
              <a:t>Decision Making: Equality and Relational Operators</a:t>
            </a:r>
          </a:p>
        </p:txBody>
      </p:sp>
      <p:sp>
        <p:nvSpPr>
          <p:cNvPr id="6656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 statement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allows a program to take alternative action based on whether a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condition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is true or false.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If the condition is true, the statement in the body of the </a:t>
            </a:r>
            <a:r>
              <a:rPr lang="en-US" alt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 statement is executed.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If the condition is false, the body statement is not executed.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Conditions in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statements can be formed by using the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equality operators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relational operators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(Fig. 2.12).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relational operators all have the same level of precedence and associate left to right.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equality operators both have the same level of precedence, which is lower than that of the relational operators, and associate left to right.</a:t>
            </a:r>
          </a:p>
        </p:txBody>
      </p:sp>
      <p:sp>
        <p:nvSpPr>
          <p:cNvPr id="68612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3463"/>
            <a:ext cx="9144000" cy="4791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2338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29" y="857250"/>
            <a:ext cx="8768953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81020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150"/>
            <a:ext cx="9144000" cy="445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35838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2.7  </a:t>
            </a:r>
            <a:r>
              <a:rPr lang="en-US">
                <a:solidFill>
                  <a:srgbClr val="3380E6"/>
                </a:solidFill>
                <a:latin typeface="Arial"/>
              </a:rPr>
              <a:t>Decision Making: Equality and Relational Operators (cont.)</a:t>
            </a:r>
          </a:p>
        </p:txBody>
      </p:sp>
      <p:sp>
        <p:nvSpPr>
          <p:cNvPr id="7065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Fig. 2.12 uses six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statements to compare two numbers input by the user.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If the condition in any of these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statements is satisfied, the output statement associated with that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statement executes.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Figure 2.13 shows the program and the input/output dialogs of three sample executions.</a:t>
            </a:r>
          </a:p>
        </p:txBody>
      </p:sp>
      <p:sp>
        <p:nvSpPr>
          <p:cNvPr id="73732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66" y="857250"/>
            <a:ext cx="7559278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65596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54" y="857250"/>
            <a:ext cx="7836694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179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23" y="857250"/>
            <a:ext cx="8489156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90093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2.7  </a:t>
            </a:r>
            <a:r>
              <a:rPr lang="en-US">
                <a:solidFill>
                  <a:srgbClr val="3380E6"/>
                </a:solidFill>
                <a:latin typeface="Arial"/>
              </a:rPr>
              <a:t>Decision Making: Equality and Relational Operators (cont.)</a:t>
            </a:r>
          </a:p>
        </p:txBody>
      </p:sp>
      <p:sp>
        <p:nvSpPr>
          <p:cNvPr id="7475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 declarations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eliminate the need to repeat the </a:t>
            </a: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prefix.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Can write </a:t>
            </a:r>
            <a:r>
              <a:rPr lang="en-US" alt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 instead of </a:t>
            </a:r>
            <a:r>
              <a:rPr lang="en-US" alt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 instead of </a:t>
            </a:r>
            <a:r>
              <a:rPr lang="en-US" alt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 instead of </a:t>
            </a:r>
            <a:r>
              <a:rPr lang="en-US" alt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, respectively, in the remainder of the program. 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Many programmers prefer to use the declaration</a:t>
            </a:r>
          </a:p>
          <a:p>
            <a:pPr lvl="2" eaLnBrk="1" hangingPunct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using namespace </a:t>
            </a:r>
            <a:r>
              <a:rPr lang="en-US" alt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 3" panose="05040102010807070707" pitchFamily="18" charset="2"/>
              <a:buNone/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	which enables a program to use all the names in any standard C++ header file (such as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iostream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) that a program might include.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From this point forward in the book, we’ll use the preceding declaration in our programs.</a:t>
            </a:r>
          </a:p>
        </p:txBody>
      </p:sp>
      <p:sp>
        <p:nvSpPr>
          <p:cNvPr id="77828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2.7  </a:t>
            </a:r>
            <a:r>
              <a:rPr lang="en-US">
                <a:solidFill>
                  <a:srgbClr val="3380E6"/>
                </a:solidFill>
                <a:latin typeface="Arial"/>
              </a:rPr>
              <a:t>Decision Making: Equality and Relational Operators (cont.)</a:t>
            </a:r>
          </a:p>
        </p:txBody>
      </p:sp>
      <p:sp>
        <p:nvSpPr>
          <p:cNvPr id="7577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Each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statement in Fig. 2.13 has a single statement in its body and each body statement is indented.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Each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statement’s body is enclosed in a pair of braces,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, creating what’s called a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compound statement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or a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block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that may contain multiple statements.</a:t>
            </a:r>
          </a:p>
        </p:txBody>
      </p:sp>
      <p:sp>
        <p:nvSpPr>
          <p:cNvPr id="78852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0775"/>
            <a:ext cx="9144000" cy="2076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93000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8054"/>
            <a:ext cx="9144000" cy="37218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2729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5357"/>
            <a:ext cx="9144000" cy="49660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68412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2.7  </a:t>
            </a:r>
            <a:r>
              <a:rPr lang="en-US">
                <a:solidFill>
                  <a:srgbClr val="3380E6"/>
                </a:solidFill>
                <a:latin typeface="Arial"/>
              </a:rPr>
              <a:t>Decision Making: Equality and Relational Operators (cont.)</a:t>
            </a:r>
          </a:p>
        </p:txBody>
      </p:sp>
      <p:sp>
        <p:nvSpPr>
          <p:cNvPr id="7885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Statements may be split over several lines and may be spaced according to your preferences.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It’s a syntax error to split identifiers, strings (such as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"hello"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) and constants (such as the number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1000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) over several lines.</a:t>
            </a:r>
          </a:p>
        </p:txBody>
      </p:sp>
      <p:sp>
        <p:nvSpPr>
          <p:cNvPr id="82948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6844"/>
            <a:ext cx="9144000" cy="40231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26815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2.7  </a:t>
            </a:r>
            <a:r>
              <a:rPr lang="en-US">
                <a:solidFill>
                  <a:srgbClr val="3380E6"/>
                </a:solidFill>
                <a:latin typeface="Arial"/>
              </a:rPr>
              <a:t>Decision Making: Equality and Relational Operators (cont.)</a:t>
            </a:r>
          </a:p>
        </p:txBody>
      </p:sp>
      <p:sp>
        <p:nvSpPr>
          <p:cNvPr id="8089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Figure 2.14 shows the precedence and associativity of the operators introduced in this chapter.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operators are shown top to bottom in decreasing order of precedence.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All these operators, with the exception of the assignment operator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, associate from left to right.</a:t>
            </a:r>
          </a:p>
        </p:txBody>
      </p:sp>
      <p:sp>
        <p:nvSpPr>
          <p:cNvPr id="86020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4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8960"/>
            <a:ext cx="9144000" cy="44588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83078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4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" y="857250"/>
            <a:ext cx="8758238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99784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DeitelPowerPointTemplate</Template>
  <TotalTime>343</TotalTime>
  <Words>3277</Words>
  <Application>Microsoft Office PowerPoint</Application>
  <PresentationFormat>On-screen Show (4:3)</PresentationFormat>
  <Paragraphs>246</Paragraphs>
  <Slides>74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4" baseType="lpstr">
      <vt:lpstr>Arial</vt:lpstr>
      <vt:lpstr>Calibri</vt:lpstr>
      <vt:lpstr>Cambria</vt:lpstr>
      <vt:lpstr>Consolas</vt:lpstr>
      <vt:lpstr>Lucida Sans Unicode</vt:lpstr>
      <vt:lpstr>Verdana</vt:lpstr>
      <vt:lpstr>Wingdings</vt:lpstr>
      <vt:lpstr>Wingdings 2</vt:lpstr>
      <vt:lpstr>Wingdings 3</vt:lpstr>
      <vt:lpstr>Concourse</vt:lpstr>
      <vt:lpstr>Introduction to C++ Programming, Input/Output and Operators</vt:lpstr>
      <vt:lpstr>PowerPoint Presentation</vt:lpstr>
      <vt:lpstr>PowerPoint Presentation</vt:lpstr>
      <vt:lpstr>2.1  Introduction</vt:lpstr>
      <vt:lpstr>2.2  First Program in C++: Printing a Line of Text</vt:lpstr>
      <vt:lpstr>PowerPoint Presentation</vt:lpstr>
      <vt:lpstr>2.2  First Program in C++: Printing a Line of Text (cont.)</vt:lpstr>
      <vt:lpstr>PowerPoint Presentation</vt:lpstr>
      <vt:lpstr>2.2  First Program in C++: Printing a Line of Text (cont.)</vt:lpstr>
      <vt:lpstr>PowerPoint Presentation</vt:lpstr>
      <vt:lpstr>2.2  First Program in C++: Printing a Line of Text (cont.)</vt:lpstr>
      <vt:lpstr>2.2  First Program in C++: Printing a Line of Text (cont.)</vt:lpstr>
      <vt:lpstr>2.2  First Program in C++: Printing a Line of Text (cont.)</vt:lpstr>
      <vt:lpstr>PowerPoint Presentation</vt:lpstr>
      <vt:lpstr>PowerPoint Presentation</vt:lpstr>
      <vt:lpstr>PowerPoint Presentation</vt:lpstr>
      <vt:lpstr>2.2  First Program in C++: Printing a Line of Text (cont.)</vt:lpstr>
      <vt:lpstr>2.2  First Program in C++: Printing a Line of Text (cont.)</vt:lpstr>
      <vt:lpstr>PowerPoint Presentation</vt:lpstr>
      <vt:lpstr>2.2  First Program in C++: Printing a Line of Text (cont.)</vt:lpstr>
      <vt:lpstr>2.3  Modifying Our First C++ Program</vt:lpstr>
      <vt:lpstr>PowerPoint Presentation</vt:lpstr>
      <vt:lpstr>2.3  Modifying Our First C++ Program (cont.)</vt:lpstr>
      <vt:lpstr>PowerPoint Presentation</vt:lpstr>
      <vt:lpstr>2.4  Another C++ Program: Adding Integers</vt:lpstr>
      <vt:lpstr>PowerPoint Presentation</vt:lpstr>
      <vt:lpstr>PowerPoint Presentation</vt:lpstr>
      <vt:lpstr>2.4  Another C++ Program: Adding Integers (cont.)</vt:lpstr>
      <vt:lpstr>2.4  Another C++ Program: Adding Integers (cont.)</vt:lpstr>
      <vt:lpstr>2.4  Another C++ Program: Adding Integers (cont.)</vt:lpstr>
      <vt:lpstr>PowerPoint Presentation</vt:lpstr>
      <vt:lpstr>PowerPoint Presentation</vt:lpstr>
      <vt:lpstr>2.4  Another C++ Program: Adding Integers (cont.)</vt:lpstr>
      <vt:lpstr>2.4  Another C++ Program: Adding Integers (cont.)</vt:lpstr>
      <vt:lpstr>PowerPoint Presentation</vt:lpstr>
      <vt:lpstr>PowerPoint Presentation</vt:lpstr>
      <vt:lpstr>PowerPoint Presentation</vt:lpstr>
      <vt:lpstr>PowerPoint Presentation</vt:lpstr>
      <vt:lpstr>2.4  Another C++ Program: Adding Integers (cont.)</vt:lpstr>
      <vt:lpstr>2.4  Another C++ Program: Adding Integers (cont.)</vt:lpstr>
      <vt:lpstr>2.4  Another C++ Program: Adding Integers (cont.)</vt:lpstr>
      <vt:lpstr>2.4  Another C++ Program: Adding Integers (cont.)</vt:lpstr>
      <vt:lpstr>PowerPoint Presentation</vt:lpstr>
      <vt:lpstr>2.4  Another C++ Program: Adding Integers (cont.)</vt:lpstr>
      <vt:lpstr>2.4  Another C++ Program: Adding Integers (cont.)</vt:lpstr>
      <vt:lpstr>2.5  Memory Concepts</vt:lpstr>
      <vt:lpstr>PowerPoint Presentation</vt:lpstr>
      <vt:lpstr>PowerPoint Presentation</vt:lpstr>
      <vt:lpstr>PowerPoint Presentation</vt:lpstr>
      <vt:lpstr>2.6  Arithmetic</vt:lpstr>
      <vt:lpstr>PowerPoint Presentation</vt:lpstr>
      <vt:lpstr>2.6  Arithmetic (cont.)</vt:lpstr>
      <vt:lpstr>2.6  Arithmetic (cont.)</vt:lpstr>
      <vt:lpstr>PowerPoint Presentation</vt:lpstr>
      <vt:lpstr>2.6  Arithmetic (cont.)</vt:lpstr>
      <vt:lpstr>PowerPoint Presentation</vt:lpstr>
      <vt:lpstr>2.7  Decision Making: Equality and Relational Operators</vt:lpstr>
      <vt:lpstr>PowerPoint Presentation</vt:lpstr>
      <vt:lpstr>PowerPoint Presentation</vt:lpstr>
      <vt:lpstr>PowerPoint Presentation</vt:lpstr>
      <vt:lpstr>2.7  Decision Making: Equality and Relational Operators (cont.)</vt:lpstr>
      <vt:lpstr>PowerPoint Presentation</vt:lpstr>
      <vt:lpstr>PowerPoint Presentation</vt:lpstr>
      <vt:lpstr>PowerPoint Presentation</vt:lpstr>
      <vt:lpstr>2.7  Decision Making: Equality and Relational Operators (cont.)</vt:lpstr>
      <vt:lpstr>2.7  Decision Making: Equality and Relational Operators (cont.)</vt:lpstr>
      <vt:lpstr>PowerPoint Presentation</vt:lpstr>
      <vt:lpstr>PowerPoint Presentation</vt:lpstr>
      <vt:lpstr>PowerPoint Presentation</vt:lpstr>
      <vt:lpstr>2.7  Decision Making: Equality and Relational Operators (cont.)</vt:lpstr>
      <vt:lpstr>PowerPoint Presentation</vt:lpstr>
      <vt:lpstr>2.7  Decision Making: Equality and Relational Operators (cont.)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C++ Programming</dc:title>
  <dc:creator>Windows User</dc:creator>
  <cp:lastModifiedBy>ahmed refa3y</cp:lastModifiedBy>
  <cp:revision>38</cp:revision>
  <dcterms:created xsi:type="dcterms:W3CDTF">2009-08-24T19:56:30Z</dcterms:created>
  <dcterms:modified xsi:type="dcterms:W3CDTF">2024-10-07T17:45:24Z</dcterms:modified>
</cp:coreProperties>
</file>