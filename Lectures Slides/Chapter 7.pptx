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75"/>
  </p:notesMasterIdLst>
  <p:handoutMasterIdLst>
    <p:handoutMasterId r:id="rId76"/>
  </p:handoutMasterIdLst>
  <p:sldIdLst>
    <p:sldId id="256" r:id="rId2"/>
    <p:sldId id="257" r:id="rId3"/>
    <p:sldId id="258" r:id="rId4"/>
    <p:sldId id="576" r:id="rId5"/>
    <p:sldId id="577" r:id="rId6"/>
    <p:sldId id="578" r:id="rId7"/>
    <p:sldId id="259" r:id="rId8"/>
    <p:sldId id="260" r:id="rId9"/>
    <p:sldId id="261" r:id="rId10"/>
    <p:sldId id="579" r:id="rId11"/>
    <p:sldId id="580" r:id="rId12"/>
    <p:sldId id="262" r:id="rId13"/>
    <p:sldId id="581" r:id="rId14"/>
    <p:sldId id="263" r:id="rId15"/>
    <p:sldId id="582" r:id="rId16"/>
    <p:sldId id="583" r:id="rId17"/>
    <p:sldId id="584" r:id="rId18"/>
    <p:sldId id="585" r:id="rId19"/>
    <p:sldId id="586" r:id="rId20"/>
    <p:sldId id="264" r:id="rId21"/>
    <p:sldId id="587" r:id="rId22"/>
    <p:sldId id="267" r:id="rId23"/>
    <p:sldId id="593" r:id="rId24"/>
    <p:sldId id="594" r:id="rId25"/>
    <p:sldId id="480" r:id="rId26"/>
    <p:sldId id="595" r:id="rId27"/>
    <p:sldId id="596" r:id="rId28"/>
    <p:sldId id="268" r:id="rId29"/>
    <p:sldId id="597" r:id="rId30"/>
    <p:sldId id="598" r:id="rId31"/>
    <p:sldId id="599" r:id="rId32"/>
    <p:sldId id="600" r:id="rId33"/>
    <p:sldId id="601" r:id="rId34"/>
    <p:sldId id="269" r:id="rId35"/>
    <p:sldId id="602" r:id="rId36"/>
    <p:sldId id="603" r:id="rId37"/>
    <p:sldId id="604" r:id="rId38"/>
    <p:sldId id="483" r:id="rId39"/>
    <p:sldId id="484" r:id="rId40"/>
    <p:sldId id="485" r:id="rId41"/>
    <p:sldId id="437" r:id="rId42"/>
    <p:sldId id="486" r:id="rId43"/>
    <p:sldId id="617" r:id="rId44"/>
    <p:sldId id="618" r:id="rId45"/>
    <p:sldId id="487" r:id="rId46"/>
    <p:sldId id="619" r:id="rId47"/>
    <p:sldId id="620" r:id="rId48"/>
    <p:sldId id="277" r:id="rId49"/>
    <p:sldId id="621" r:id="rId50"/>
    <p:sldId id="622" r:id="rId51"/>
    <p:sldId id="488" r:id="rId52"/>
    <p:sldId id="623" r:id="rId53"/>
    <p:sldId id="624" r:id="rId54"/>
    <p:sldId id="489" r:id="rId55"/>
    <p:sldId id="490" r:id="rId56"/>
    <p:sldId id="281" r:id="rId57"/>
    <p:sldId id="640" r:id="rId58"/>
    <p:sldId id="641" r:id="rId59"/>
    <p:sldId id="642" r:id="rId60"/>
    <p:sldId id="643" r:id="rId61"/>
    <p:sldId id="644" r:id="rId62"/>
    <p:sldId id="645" r:id="rId63"/>
    <p:sldId id="646" r:id="rId64"/>
    <p:sldId id="283" r:id="rId65"/>
    <p:sldId id="648" r:id="rId66"/>
    <p:sldId id="284" r:id="rId67"/>
    <p:sldId id="491" r:id="rId68"/>
    <p:sldId id="492" r:id="rId69"/>
    <p:sldId id="647" r:id="rId70"/>
    <p:sldId id="493" r:id="rId71"/>
    <p:sldId id="494" r:id="rId72"/>
    <p:sldId id="649" r:id="rId73"/>
    <p:sldId id="650" r:id="rId7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24" autoAdjust="0"/>
    <p:restoredTop sz="94660"/>
  </p:normalViewPr>
  <p:slideViewPr>
    <p:cSldViewPr>
      <p:cViewPr>
        <p:scale>
          <a:sx n="55" d="100"/>
          <a:sy n="55" d="100"/>
        </p:scale>
        <p:origin x="1256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theme" Target="theme/theme1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presProps" Target="presProp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tableStyles" Target="tableStyles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2A12B5-AD82-46B2-B308-0D2F70F9A1C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12/30/2023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A286EB-296D-4640-A689-89F2D1819951}" type="slidenum">
              <a:rPr lang="en-US" altLang="en-US">
                <a:latin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378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8F439D-E2A6-4772-8877-419FCCE9F662}" type="datetimeFigureOut">
              <a:rPr lang="en-US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FA2F6A6-72BE-450D-B582-C83DA98F765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32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slideMaster" Target="../slideMasters/slideMaster1.xml" /><Relationship Id="rId1" Type="http://schemas.openxmlformats.org/officeDocument/2006/relationships/themeOverride" Target="../theme/themeOverride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slideMaster" Target="../slideMasters/slideMaster1.xml" /><Relationship Id="rId1" Type="http://schemas.openxmlformats.org/officeDocument/2006/relationships/themeOverride" Target="../theme/themeOverride2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slideMaster" Target="../slideMasters/slideMaster1.xml" /><Relationship Id="rId1" Type="http://schemas.openxmlformats.org/officeDocument/2006/relationships/themeOverride" Target="../theme/themeOverride3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slideMaster" Target="../slideMasters/slideMaster1.xml" /><Relationship Id="rId1" Type="http://schemas.openxmlformats.org/officeDocument/2006/relationships/themeOverride" Target="../theme/themeOverride4.xml" /><Relationship Id="rId4" Type="http://schemas.openxmlformats.org/officeDocument/2006/relationships/image" Target="../media/image1.jpeg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8869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855B2C5B-F161-421D-94F8-D8214427D9CB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DCD0E4-459A-405B-ABEB-0BF303A19ED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306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B549D32A-E851-4B2B-B040-99BCB5B539AE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408738"/>
            <a:ext cx="2616200" cy="365125"/>
          </a:xfrm>
        </p:spPr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06D9-7514-4000-A34E-519FDF1F42B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025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9CE1C81-44EA-4BDE-BC52-7518FA247F08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CEE82-8C93-4C8F-ABF4-3CDF6F38E1E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0111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8680DF0C-00B0-40E2-9479-302494A13B4C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75492-3BE2-4EC5-A917-CD429475086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8845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F4A5379-0B6B-4379-A5FA-D458BE903183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3B95E-EB1E-4826-AFDC-357288A64F7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9363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891505E-F829-4456-B3A4-FA7D66FBEF1D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E6B2A-DAB8-4A7F-B909-FAAB69F42DD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7164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AFF36-F47C-4888-987A-77F9E69B9ED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498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6B585217-7A69-4BFA-977A-1D37A4BCAA7D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EA480-6BFF-4B36-B64C-CDABB545FF8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9227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9FFFEB10-01F1-49F6-ADDD-0499DA12B512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9777C-E024-4B5D-AAA4-0CEA9DF63B1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7169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36DFB-6096-4135-AD75-2BFA363E97A3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C83E3-AE00-412E-B870-274E07ADD43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241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286A6-2C8E-4FBC-9E03-218A72BCCB32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3E7FB-CF45-491D-8073-92EB4FCF78C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32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8D813-D35B-45D4-8DC9-1624E2E4B6F9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2997E-3504-4710-9466-2AA8E81C43E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657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1.jpe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CBC13280-11D6-47BB-8EBD-4DF5E4A8055C}" type="datetime1">
              <a:rPr lang="en-US" smtClean="0"/>
              <a:pPr>
                <a:defRPr/>
              </a:pPr>
              <a:t>12/30/2023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962400" y="6408738"/>
            <a:ext cx="2768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800FE285-0411-4D0D-A622-14CF6E953AC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232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7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7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7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7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7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7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7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7.xml" 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7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7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7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7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7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7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7.xml" 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7.xml" 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1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pp/cpp_exceptions.asp" TargetMode="Externa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Goudy Sans Medium"/>
              </a:rPr>
              <a:t>Class Templates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Goudy Sans Medium"/>
              </a:rPr>
              <a:t> and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Goudy Sans Medium"/>
              </a:rPr>
              <a:t>; Catching Exceptions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/>
            <a:r>
              <a:rPr lang="en-US" altLang="en-US" dirty="0"/>
              <a:t>Chapter 7 of C++ How to Program</a:t>
            </a:r>
            <a:r>
              <a:rPr lang="en-US" altLang="en-US"/>
              <a:t>, 10/e</a:t>
            </a:r>
            <a:endParaRPr lang="en-US" altLang="en-US" dirty="0"/>
          </a:p>
          <a:p>
            <a:pPr marR="0" eaLnBrk="1" hangingPunct="1"/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This chapter introduces the topic of 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data structures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—</a:t>
            </a:r>
            <a:r>
              <a:rPr lang="en-US" altLang="en-US" sz="2500" i="1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collections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of related data items.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We discuss 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s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 which are </a:t>
            </a:r>
            <a:r>
              <a:rPr lang="en-US" altLang="en-US" sz="2500" i="1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fixed-size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 collections consisting of data items of the </a:t>
            </a:r>
            <a:r>
              <a:rPr lang="en-US" altLang="en-US" sz="2500" i="1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same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 type, and 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s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 which are collections (also of data items of the </a:t>
            </a:r>
            <a:r>
              <a:rPr lang="en-US" altLang="en-US" sz="2500" i="1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same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 type) that can grow and shrink </a:t>
            </a:r>
            <a:r>
              <a:rPr lang="en-US" altLang="en-US" sz="2500" i="1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dynamically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00FFFF"/>
                </a:highlight>
                <a:latin typeface="Cambria" panose="02040503050406030204" pitchFamily="18" charset="0"/>
              </a:rPr>
              <a:t> at execution time.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Both 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are C++ standard library class templates.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We present examples that demonstrate several common array manipulations and introduce exception handling.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7.2  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An array is a </a:t>
            </a:r>
            <a:r>
              <a:rPr lang="en-US" altLang="en-US" sz="2100" i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contiguous</a:t>
            </a:r>
            <a:r>
              <a:rPr lang="en-US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group of memory locations that all have the same type.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To refer to a particular location or element in the array, specify the name of the array and the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position number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of the particular element.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Figure 7.1 shows an integer array called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12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elements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position number is more </a:t>
            </a:r>
            <a:r>
              <a:rPr lang="en-US" altLang="en-US" sz="21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formally called a </a:t>
            </a:r>
            <a:r>
              <a:rPr lang="en-US" altLang="en-US" sz="2100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subscript</a:t>
            </a:r>
            <a:r>
              <a:rPr lang="en-US" altLang="en-US" sz="21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or </a:t>
            </a:r>
            <a:r>
              <a:rPr lang="en-US" altLang="en-US" sz="2100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index </a:t>
            </a:r>
            <a:r>
              <a:rPr lang="en-US" altLang="en-US" sz="2100" dirty="0">
                <a:solidFill>
                  <a:srgbClr val="000000"/>
                </a:solidFill>
                <a:latin typeface="AGaramond" pitchFamily="50" charset="0"/>
              </a:rPr>
              <a:t>(this number specifies the number of elements from the beginning of the array)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The first element in every array has </a:t>
            </a:r>
            <a:r>
              <a:rPr lang="en-US" altLang="en-US" sz="2100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subscript 0 </a:t>
            </a:r>
            <a:r>
              <a:rPr lang="en-US" altLang="en-US" sz="21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(</a:t>
            </a:r>
            <a:r>
              <a:rPr lang="en-US" altLang="en-US" sz="2100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zero</a:t>
            </a:r>
            <a:r>
              <a:rPr lang="en-US" altLang="en-US" sz="21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) and is sometimes called the </a:t>
            </a:r>
            <a:r>
              <a:rPr lang="en-US" altLang="en-US" sz="2100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zeroth element</a:t>
            </a:r>
            <a:r>
              <a:rPr lang="en-US" altLang="en-US" sz="21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highest subscript in array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is 11, which is 1 less than the number of elements in the array (12).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A subscript must be an integer or integer expression (using any integral type).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857250"/>
            <a:ext cx="860941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19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0"/>
            <a:ext cx="9144000" cy="4951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082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85" y="857250"/>
            <a:ext cx="718423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05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204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s occupy space in memory.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To specify the type of the elements and the number of elements required by an array use a declaration of the form:</a:t>
            </a:r>
          </a:p>
          <a:p>
            <a:pPr lvl="2" eaLnBrk="1" hangingPunct="1"/>
            <a:r>
              <a:rPr lang="en-US" altLang="en-US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array</a:t>
            </a:r>
            <a:r>
              <a:rPr lang="en-US" altLang="en-US" i="1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  <a:cs typeface="Times New Roman" panose="02020603050405020304" pitchFamily="18" charset="0"/>
              </a:rPr>
              <a:t>&lt; type, </a:t>
            </a:r>
            <a:r>
              <a:rPr lang="en-US" altLang="en-US" i="1" dirty="0" err="1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  <a:cs typeface="Times New Roman" panose="02020603050405020304" pitchFamily="18" charset="0"/>
              </a:rPr>
              <a:t>arraySize</a:t>
            </a:r>
            <a:r>
              <a:rPr lang="en-US" altLang="en-US" i="1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  <a:cs typeface="Times New Roman" panose="02020603050405020304" pitchFamily="18" charset="0"/>
              </a:rPr>
              <a:t> &gt;</a:t>
            </a:r>
            <a:r>
              <a:rPr lang="en-US" altLang="en-US" i="1" dirty="0">
                <a:solidFill>
                  <a:srgbClr val="000000"/>
                </a:solidFill>
                <a:highlight>
                  <a:srgbClr val="00FF00"/>
                </a:highlight>
                <a:latin typeface="AGaramond" pitchFamily="50" charset="0"/>
              </a:rPr>
              <a:t> </a:t>
            </a:r>
            <a:r>
              <a:rPr lang="en-US" altLang="en-US" i="1" dirty="0" err="1">
                <a:solidFill>
                  <a:srgbClr val="000000"/>
                </a:solidFill>
                <a:highlight>
                  <a:srgbClr val="00FF00"/>
                </a:highlight>
                <a:latin typeface="AGaramond" pitchFamily="50" charset="0"/>
              </a:rPr>
              <a:t>arrayName</a:t>
            </a:r>
            <a:r>
              <a:rPr lang="en-US" altLang="en-US" i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notation &lt;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type, </a:t>
            </a:r>
            <a:r>
              <a:rPr lang="en-US" altLang="en-US" sz="24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&gt; indicates that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is a class template.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compiler reserves the appropriate amount of memory based on the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type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of the elements and the </a:t>
            </a:r>
            <a:r>
              <a:rPr lang="en-US" altLang="en-US" sz="24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s can be declared to contain values of most data types.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Examples Using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following examples demonstrate how to declare arrays, how to initialize arrays and how to perform common array manipulations.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7.4.1 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Declaring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 and Using a Loop to Initialize the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’s Elements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program in Fig. 7.3 declares five-element integer array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(line 10).</a:t>
            </a:r>
          </a:p>
          <a:p>
            <a:pPr eaLnBrk="1" hangingPunct="1"/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represents an unsigned integral type.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This type is recommended for any variable that represents an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’s size or an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’s subscripts. Type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is defined in the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namespace and is in header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cstddef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, which is included by various other headers.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If you attempt to compile a program that uses type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and receive errors indicating that it’s not defined, simply include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cstddef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in your program.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"/>
            <a:ext cx="9118284" cy="617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57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5969"/>
            <a:ext cx="9144000" cy="278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087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7.4.2 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Initializing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 in a Declaration with an Initializer List</a:t>
            </a:r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elements of an array also can be initialized in the array declaration by following the array name with an equals sign and a brace-delimited comma-separated list of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initializers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program in Fig. 7.4 uses an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initializer list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to initialize an integer array with five values (line 11) and prints the array in tabular format (lines 13–17).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If there are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fewer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initializers than elements in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the remaining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elements are initialized to zero.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If there are more, a compilation error occurs.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096"/>
            <a:ext cx="9143999" cy="65618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5555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7.4.3 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Specifying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’s Size with a Constant Variable and Setting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 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Elements with Calculations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7.5 sets the elements of a 5-element array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the even integers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6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prints the array in tabular format.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 10 uses the </a:t>
            </a: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 qualifier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declare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constant variable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arraySize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with the value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constant variable that’s used to specify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size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 initialized with a constant expression when it’s declared and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 modified thereafter.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Constant variables are also called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named constants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read-only variables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0"/>
            <a:ext cx="9144001" cy="6624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1051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5969"/>
            <a:ext cx="9144000" cy="278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2131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5538"/>
            <a:ext cx="9144000" cy="2066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48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1010"/>
            <a:ext cx="9144000" cy="2135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218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456"/>
            <a:ext cx="9144000" cy="4129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4344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7.4.4 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Summing the Elements of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</a:p>
        </p:txBody>
      </p:sp>
      <p:sp>
        <p:nvSpPr>
          <p:cNvPr id="3789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Often, the elements of an array represent a series of values to be used in a calculation.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Fig. 7.6 sums the values contained in the four-element integer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9752"/>
            <a:ext cx="9146740" cy="5941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629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7.4.7 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Using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 to Summarize Survey Results</a:t>
            </a:r>
          </a:p>
        </p:txBody>
      </p:sp>
      <p:sp>
        <p:nvSpPr>
          <p:cNvPr id="471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Fig. 7.9 uses arrays to summarize the results of data collected in a survey.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Consider the following problem statement: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Twenty students were asked to rate on a scale of 1 to 5 the quality of the food in the student cafeteria, with 1 being “awful” and 5 being “excellent.” Place the 20 responses in an integer array and determine the frequency of each rating.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i="1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C++ provides no automatic </a:t>
            </a:r>
            <a:r>
              <a:rPr lang="en-US" altLang="en-US" sz="2400" i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array</a:t>
            </a:r>
            <a:r>
              <a:rPr lang="en-US" altLang="en-US" sz="2400" i="1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</a:t>
            </a:r>
            <a:r>
              <a:rPr lang="en-US" altLang="en-US" sz="2400" i="1" dirty="0">
                <a:solidFill>
                  <a:srgbClr val="0000FF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bounds checking</a:t>
            </a:r>
            <a:r>
              <a:rPr lang="en-US" altLang="en-US" sz="2400" i="1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to prevent you from referring to an element that does not exist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Thus, an executing program can “walk off” either end of an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without warning.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Class templates 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and 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vector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each have an 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at</a:t>
            </a:r>
            <a:r>
              <a:rPr lang="en-US" altLang="en-US" sz="2400" dirty="0">
                <a:solidFill>
                  <a:srgbClr val="000000"/>
                </a:solidFill>
                <a:highlight>
                  <a:srgbClr val="00FF00"/>
                </a:highlight>
                <a:latin typeface="Cambria" panose="02040503050406030204" pitchFamily="18" charset="0"/>
              </a:rPr>
              <a:t> function that performs bounds checking for you.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65"/>
            <a:ext cx="9143999" cy="662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552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5844"/>
            <a:ext cx="9144000" cy="4785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971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7.4.7 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Using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 to Summarize Survey Results</a:t>
            </a:r>
          </a:p>
        </p:txBody>
      </p:sp>
      <p:sp>
        <p:nvSpPr>
          <p:cNvPr id="501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It’s important to ensure that every subscript you use to access an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element is within the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’s bounds—that is, greater than or equal to 0 and less than the number of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elements.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Allowing programs to read from or write to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elements outside the bounds of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s are common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security flaws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Reading from out-of-bounds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elements can cause a program to crash or even appear to execute correctly while using bad data.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Writing to an out-of-bounds element (known as a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buffer overflow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) can corrupt a program’s data in memory, crash a program and allow attackers to exploit the system and execute their own code.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1966"/>
            <a:ext cx="9144000" cy="2072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1622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1335"/>
            <a:ext cx="9144000" cy="4554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8888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7.4.8 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Static Local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 and Automatic Local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program initializes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local arrays when their declarations are first encountered.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If 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array is not initialized explicitly by you, each element of that array is initialized to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zero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by the compiler when the array is created.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Local variables are sometimes called automatic variables because they’re automatically destroyed when the function finishes executing</a:t>
            </a: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6888"/>
            <a:ext cx="9144000" cy="3324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97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" y="304800"/>
            <a:ext cx="9219212" cy="601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960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87" y="533400"/>
            <a:ext cx="9201574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076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197"/>
            <a:ext cx="9103360" cy="5511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2691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" y="304800"/>
            <a:ext cx="9126714" cy="624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511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Statement</a:t>
            </a:r>
          </a:p>
        </p:txBody>
      </p:sp>
      <p:sp>
        <p:nvSpPr>
          <p:cNvPr id="593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It’s common to process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all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the elements of an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C++11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range-based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 statement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allows you to do this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without using a counter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thus avoiding the possibility of “stepping outside” 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eliminating the need for you to implement your own bounds checking.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7.11 uses the range-based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display an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contents and to multiply each of 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element values by 2.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1225"/>
            <a:ext cx="9144000" cy="2494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413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87" y="533400"/>
            <a:ext cx="9201574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0462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5419"/>
            <a:ext cx="9144000" cy="3967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149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Statement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Using the Range-Based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 to Display an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’s Contents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range-based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simplifies the code for iterating through an array.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 12 can be read as “for each iteration, assign the next element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variable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then execute the following statement.”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Lines 12–14 are equivalent to the following counter-controlled iteration: </a:t>
            </a:r>
          </a:p>
          <a:p>
            <a:pPr marL="392113" lvl="1" indent="0" eaLnBrk="1" hangingPunct="1">
              <a:buFont typeface="Verdana" panose="020B0604030504040204" pitchFamily="34" charset="0"/>
              <a:buNone/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counter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counter &lt; items.size(); ++counter) { </a:t>
            </a:r>
          </a:p>
          <a:p>
            <a:pPr marL="392113" lvl="1" indent="0" eaLnBrk="1" hangingPunct="1">
              <a:buFont typeface="Verdana" panose="020B0604030504040204" pitchFamily="34" charset="0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cout &lt;&lt; items[counter] &lt;&lt;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defRPr/>
            </a:pP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Statement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Using the Range-Based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 to Modify an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’s Contents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Lines 17–19 use a range-based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to multiply each element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by 2.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In line 17, the range variable declaration indicates that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itemRef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an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reference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).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We use an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reference because items contains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values and we want to modify each element’s value—because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itemRef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declared as a reference, any change you make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itemRef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changes the corresponding element value in 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Statement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Using an Element’s Subscript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range-based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can be used in place of the counter-controlled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 whenever code looping through an array does not require access to the element’s subscript.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However, if a program must use subscripts for some reason other than simply to loop through an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(e.g., to print a subscript number next to each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element value, as in the examples early in this chapter), you should use the counter-controlled for statement.</a:t>
            </a: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7.7  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Sorting and Searching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849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 this section, we use the built-in C++ Standard Library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function to arrange the elements in an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into ascending order and the built-in </a:t>
            </a:r>
            <a:r>
              <a:rPr lang="en-US" alt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function to determine whether a value is in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7.7.1  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Sorting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Sorting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data—placing it into ascending or descending order—is one of the most important computing applications.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7.7.2  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Searching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Often it may be necessary to determine whether an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contains a value that matches a certain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key value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This is called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searching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4208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7.7.2  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Searching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Figure 7.15 begins by creating an unsorted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of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s and displaying the contents of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Line 21 uses C++ Standard Library function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to sort the elements of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colors into ascending order.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Lines 25–276 display the contents of the sorted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73642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7.7  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Sorting and Searching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870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Lines 30 and 354 demonstrate use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to determine whether a value is in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sequence of values must be sorted in ascending order first—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does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verify this for you.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function’s first two arguments represent the range of elements to search and the third is the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search key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—the value to locate in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function returns a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bool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indicating whether the value was found. 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196"/>
            <a:ext cx="9144000" cy="6189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319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256"/>
            <a:ext cx="9143999" cy="65814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6604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Multidimensional Arrays</a:t>
            </a:r>
          </a:p>
        </p:txBody>
      </p:sp>
      <p:sp>
        <p:nvSpPr>
          <p:cNvPr id="901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You can use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s with two dimensions (i.e., subscripts) to represent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tables of values 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consisting of information arranged in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rows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columns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To identify a particular table element, we must specify two subscripts—by convention, the first identifies the element’s </a:t>
            </a:r>
            <a:r>
              <a:rPr lang="en-US" altLang="en-US" sz="2300" i="1" dirty="0">
                <a:solidFill>
                  <a:srgbClr val="000000"/>
                </a:solidFill>
                <a:latin typeface="Cambria" panose="02040503050406030204" pitchFamily="18" charset="0"/>
              </a:rPr>
              <a:t>row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and the second identifies the element’s </a:t>
            </a:r>
            <a:r>
              <a:rPr lang="en-US" altLang="en-US" sz="2300" i="1" dirty="0">
                <a:solidFill>
                  <a:srgbClr val="000000"/>
                </a:solidFill>
                <a:latin typeface="Cambria" panose="02040503050406030204" pitchFamily="18" charset="0"/>
              </a:rPr>
              <a:t>column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Often called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two-dimensional arrays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2-D arrays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Arrays with two or more dimensions are known as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multidimensional arrays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Figure 7.16 illustrates a two-dimensional array,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array contains three rows and four columns, so it’s said to be a 3-by-4 array.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In general, an array with </a:t>
            </a:r>
            <a:r>
              <a:rPr lang="en-US" altLang="en-US" sz="2000" i="1" dirty="0">
                <a:solidFill>
                  <a:srgbClr val="000000"/>
                </a:solidFill>
                <a:latin typeface="Cambria" panose="02040503050406030204" pitchFamily="18" charset="0"/>
              </a:rPr>
              <a:t>m rows and n columns is called an </a:t>
            </a:r>
            <a:r>
              <a:rPr lang="en-US" altLang="en-US" sz="2000" i="1" dirty="0">
                <a:solidFill>
                  <a:srgbClr val="0000FF"/>
                </a:solidFill>
                <a:latin typeface="Cambria" panose="02040503050406030204" pitchFamily="18" charset="0"/>
              </a:rPr>
              <a:t>m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-by-</a:t>
            </a:r>
            <a:r>
              <a:rPr lang="en-US" altLang="en-US" sz="2000" i="1" dirty="0">
                <a:solidFill>
                  <a:srgbClr val="0000FF"/>
                </a:solidFill>
                <a:latin typeface="Cambria" panose="02040503050406030204" pitchFamily="18" charset="0"/>
              </a:rPr>
              <a:t>n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array</a:t>
            </a:r>
            <a:r>
              <a:rPr lang="en-US" altLang="en-US" sz="2000" i="1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2069"/>
            <a:ext cx="9144000" cy="4233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5158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41"/>
            <a:ext cx="9144000" cy="33123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35167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Multidimensional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7.17 demonstrates initializing two-dimensional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in declarations.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In each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the type of its elements is specified as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columns&gt;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contains as its elements three-element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values—the constant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columns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has the value 3.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655"/>
            <a:ext cx="9143999" cy="5970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81879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577"/>
            <a:ext cx="9144000" cy="5860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54326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Multidimensional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Nested Range-Based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 Statements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To process the elements of a two-dimensional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we use a nested loop in which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outer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loop iterates through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rows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inner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loop iterates through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columns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of a given row.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C++11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keyword tells the compiler to infer (determine) a variable’s data type based on the variable’s initializer value.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Multidimensional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Nested Counter-Controlled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 Statements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We could have implemented the nested loop with counter-controlled iteration as follows:</a:t>
            </a: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row =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row &lt; a.size(); ++row) {</a:t>
            </a:r>
          </a:p>
          <a:p>
            <a:pPr marL="109537" indent="0">
              <a:lnSpc>
                <a:spcPct val="80000"/>
              </a:lnSpc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column =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column &lt; a[row].size(); ++column) {</a:t>
            </a: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cout &lt;&lt; a[row][column] &lt;&lt;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' 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cout &lt;&lt; endl;</a:t>
            </a: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</a:p>
        </p:txBody>
      </p:sp>
      <p:sp>
        <p:nvSpPr>
          <p:cNvPr id="11469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C++ Standard Library class template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is similar to class template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, but also supports dynamic resizing.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Except for the features that modify a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, the other features shown in Fig. 7.21 also work for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Standard class template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is defined in header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&lt;vector&gt;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(line 5) and belongs to namespace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1228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65"/>
            <a:ext cx="9143999" cy="662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65396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197"/>
            <a:ext cx="9144000" cy="5535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82270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65"/>
            <a:ext cx="9143999" cy="662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26382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273"/>
            <a:ext cx="9144000" cy="53201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94258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640"/>
            <a:ext cx="9144000" cy="64095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69953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627"/>
            <a:ext cx="9144000" cy="60567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0645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8010"/>
            <a:ext cx="9144000" cy="4420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41856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28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By default, all the elements of a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object are set to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s can be defined to store most data types.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member function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size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obtain the number of elements in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As with class template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you can also do this using a counter-controlled loop and the subscript (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operator. </a:t>
            </a:r>
          </a:p>
        </p:txBody>
      </p:sp>
      <p:sp>
        <p:nvSpPr>
          <p:cNvPr id="1331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28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Notice that we used parentheses rather than braces to pass the size argument to each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object’s constructor. </a:t>
            </a:r>
          </a:p>
          <a:p>
            <a:pPr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When creating a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if the braces contain one value of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’s element type, the braces are treated as a one-element initializer list, rather than a call to the constructor that sets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’s size. </a:t>
            </a:r>
          </a:p>
          <a:p>
            <a:pPr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following declaration actually creates a one-element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containing the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value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7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not a 7-element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</a:p>
          <a:p>
            <a:pPr lvl="1">
              <a:lnSpc>
                <a:spcPct val="9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&gt; integers1{7}; </a:t>
            </a:r>
          </a:p>
          <a:p>
            <a:pPr>
              <a:lnSpc>
                <a:spcPct val="90000"/>
              </a:lnSpc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331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58931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39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can use the assignment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operator with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objects.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As is the case with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s, C++ is not required to perform bounds checking when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elements are accessed with square brackets.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Standard class template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provides bounds checking in its member function </a:t>
            </a:r>
            <a:r>
              <a:rPr lang="en-US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at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 (as does class template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49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An </a:t>
            </a:r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</a:rPr>
              <a:t>exception </a:t>
            </a:r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indicates a problem that occurs while a program executes. </a:t>
            </a:r>
          </a:p>
          <a:p>
            <a:pPr eaLnBrk="1" hangingPunct="1"/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The name “exception” suggests that the problem occurs infrequently.</a:t>
            </a:r>
          </a:p>
          <a:p>
            <a:pPr eaLnBrk="1" hangingPunct="1"/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</a:rPr>
              <a:t>Exception handling </a:t>
            </a:r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enables you to create </a:t>
            </a:r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</a:rPr>
              <a:t>fault-tolerant programs </a:t>
            </a:r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that can resolve (or handle) exceptions.</a:t>
            </a:r>
          </a:p>
          <a:p>
            <a:pPr eaLnBrk="1" hangingPunct="1"/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When a function detects a problem, such as an invalid 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 subscript or an invalid argument, it </a:t>
            </a:r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</a:rPr>
              <a:t>throws</a:t>
            </a:r>
            <a:r>
              <a:rPr lang="en-US" altLang="en-US" sz="2600" dirty="0">
                <a:solidFill>
                  <a:srgbClr val="000000"/>
                </a:solidFill>
                <a:latin typeface="Cambria" panose="02040503050406030204" pitchFamily="18" charset="0"/>
              </a:rPr>
              <a:t> an exception—that is, an exception occurs. 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59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To handle an exception, place any code that might throw an exception in a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statement.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block contains the code that might throw an exception, and the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catch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block contains the code that handles the exception if one occurs.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You can have many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catch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blocks to handle different types of exceptions that might be thrown in the corresponding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block.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member function </a:t>
            </a:r>
            <a:r>
              <a:rPr lang="en-US" alt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provides bounds checking and throws an exception if its argument is an invalid subscript.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By default, this causes a C++ program to terminate.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0460"/>
            <a:ext cx="9144000" cy="3317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4757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372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Changing the Size of a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vector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One of the key differences between a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an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that a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can dynamically grow and shrink as the number of elements it needs to accommodate varies.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To demonstrate this, line 88 shows the current size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integers3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line 89 calls 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member function to add a new element containing 1000 to the end of 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line 90 shows the new size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integers3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 92 then displays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integers3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new contents.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372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C++11: List Initializing a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vector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Many of 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examples in this chapter used list initializers to specify the initial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element values.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C++11 also allows this for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(and other C++ Standard Library data structures).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Example: </a:t>
            </a:r>
          </a:p>
          <a:p>
            <a:pPr eaLnBrk="1" hangingPunct="1">
              <a:defRPr/>
            </a:pPr>
            <a:r>
              <a:rPr lang="sv-SE" dirty="0">
                <a:solidFill>
                  <a:srgbClr val="000000"/>
                </a:solidFill>
                <a:latin typeface="Cambria" panose="02040503050406030204" pitchFamily="18" charset="0"/>
              </a:rPr>
              <a:t>vector&lt;int&gt; vec { 10, 20, 30 };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/>
              <a:t>© 2014 by Pearson Education, Ltd. All Rights Reserved.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0E4E-B05D-1263-9792-FE3255F9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2D vectors: Better than arrays: </a:t>
            </a:r>
            <a:br>
              <a:rPr lang="en-US" dirty="0"/>
            </a:br>
            <a:r>
              <a:rPr lang="en-US" dirty="0"/>
              <a:t>rows may be of different sizes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35FFF-2FC5-E0B9-4DBA-3FB4DECB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by Pearson Education, Ltd. All Rights Reserved.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98254-8B97-1995-8DEE-02BB483EC2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18703" r="25833" b="24815"/>
          <a:stretch/>
        </p:blipFill>
        <p:spPr>
          <a:xfrm>
            <a:off x="533400" y="1408957"/>
            <a:ext cx="7726180" cy="476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229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BB90-0F5F-0B1D-F551-E5BF0255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 (C++)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FC053-2101-17E5-D145-01FFCD0CD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https://www.w3schools.com/cpp/cpp_exceptions.asp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816F6-0858-266D-490A-3CD1F07A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369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cpphtp10_04</Template>
  <TotalTime>5025</TotalTime>
  <Words>3101</Words>
  <Application>Microsoft Office PowerPoint</Application>
  <PresentationFormat>On-screen Show (4:3)</PresentationFormat>
  <Paragraphs>199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Concourse</vt:lpstr>
      <vt:lpstr>Class Templates array and vector; Catching Exceptions</vt:lpstr>
      <vt:lpstr>7.1  Introduction</vt:lpstr>
      <vt:lpstr>7.2  arrays</vt:lpstr>
      <vt:lpstr>PowerPoint Presentation</vt:lpstr>
      <vt:lpstr>PowerPoint Presentation</vt:lpstr>
      <vt:lpstr>PowerPoint Presentation</vt:lpstr>
      <vt:lpstr>7.3  Declaring arrays</vt:lpstr>
      <vt:lpstr>7.4  Examples Using arrays</vt:lpstr>
      <vt:lpstr>7.4.1 Declaring an array and Using a Loop to Initialize the array’s Elements</vt:lpstr>
      <vt:lpstr>PowerPoint Presentation</vt:lpstr>
      <vt:lpstr>PowerPoint Presentation</vt:lpstr>
      <vt:lpstr>7.4.2 Initializing an array in a Declaration with an Initializer List</vt:lpstr>
      <vt:lpstr>PowerPoint Presentation</vt:lpstr>
      <vt:lpstr>7.4.3 Specifying an array’s Size with a Constant Variable and Setting array Elements with Calculations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7.4.4 Summing the Elements of an array</vt:lpstr>
      <vt:lpstr>PowerPoint Presentation</vt:lpstr>
      <vt:lpstr>7.4.7 Using arrays to Summarize Survey Results</vt:lpstr>
      <vt:lpstr>PowerPoint Presentation</vt:lpstr>
      <vt:lpstr>PowerPoint Presentation</vt:lpstr>
      <vt:lpstr>7.4.7 Using arrays to Summarize Survey Results</vt:lpstr>
      <vt:lpstr>PowerPoint Presentation</vt:lpstr>
      <vt:lpstr>PowerPoint Presentation</vt:lpstr>
      <vt:lpstr>7.4.8 Static Local arrays and Automatic Local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7.5  Range-Based for Statement</vt:lpstr>
      <vt:lpstr>PowerPoint Presentation</vt:lpstr>
      <vt:lpstr>PowerPoint Presentation</vt:lpstr>
      <vt:lpstr>PowerPoint Presentation</vt:lpstr>
      <vt:lpstr>7.5  Range-Based for Statement (cont.)</vt:lpstr>
      <vt:lpstr>7.5  Range-Based for Statement (cont.)</vt:lpstr>
      <vt:lpstr>7.5  Range-Based for Statement (cont.)</vt:lpstr>
      <vt:lpstr>7.7  Sorting and Searching arrays</vt:lpstr>
      <vt:lpstr>7.7.1  Sorting</vt:lpstr>
      <vt:lpstr>7.7.2  Searching</vt:lpstr>
      <vt:lpstr>7.7.2  Searching</vt:lpstr>
      <vt:lpstr>7.7  Sorting and Searching arrays (cont.)</vt:lpstr>
      <vt:lpstr>PowerPoint Presentation</vt:lpstr>
      <vt:lpstr>PowerPoint Presentation</vt:lpstr>
      <vt:lpstr>7.8  Multidimensional Arrays</vt:lpstr>
      <vt:lpstr>PowerPoint Presentation</vt:lpstr>
      <vt:lpstr>PowerPoint Presentation</vt:lpstr>
      <vt:lpstr>7.8  Multidimensional arrays (cont.)</vt:lpstr>
      <vt:lpstr>PowerPoint Presentation</vt:lpstr>
      <vt:lpstr>PowerPoint Presentation</vt:lpstr>
      <vt:lpstr>7.8  Multidimensional arrays (cont.)</vt:lpstr>
      <vt:lpstr>7.8  Multidimensional arrays (cont.)</vt:lpstr>
      <vt:lpstr>7.10  Introduction to C++ Standard Library Class Template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7.10  Introduction to C++ Standard Library Class Template vector (cont.)</vt:lpstr>
      <vt:lpstr>7.10  Introduction to C++ Standard Library Class Template vector (cont.)</vt:lpstr>
      <vt:lpstr>7.10  Introduction to C++ Standard Library Class Template vector (cont.)</vt:lpstr>
      <vt:lpstr>7.10  Introduction to C++ Standard Library Class Template vector (cont.)</vt:lpstr>
      <vt:lpstr>7.10  Introduction to C++ Standard Library Class Template vector (cont.)</vt:lpstr>
      <vt:lpstr>PowerPoint Presentation</vt:lpstr>
      <vt:lpstr>7.10  Introduction to C++ Standard Library Class Template vector (cont.)</vt:lpstr>
      <vt:lpstr>7.10  Introduction to C++ Standard Library Class Template vector (cont.)</vt:lpstr>
      <vt:lpstr>2D vectors: Better than arrays:  rows may be of different sizes</vt:lpstr>
      <vt:lpstr>Exception Handling (C++)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and Vectors</dc:title>
  <dc:creator>Windows User</dc:creator>
  <cp:lastModifiedBy>Shereenkapel33@outlook.com</cp:lastModifiedBy>
  <cp:revision>54</cp:revision>
  <dcterms:created xsi:type="dcterms:W3CDTF">2009-09-14T16:00:56Z</dcterms:created>
  <dcterms:modified xsi:type="dcterms:W3CDTF">2023-12-30T16:08:56Z</dcterms:modified>
</cp:coreProperties>
</file>